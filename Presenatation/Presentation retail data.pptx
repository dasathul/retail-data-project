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50"/>
  </p:notesMasterIdLst>
  <p:sldIdLst>
    <p:sldId id="1119" r:id="rId3"/>
    <p:sldId id="1506" r:id="rId4"/>
    <p:sldId id="1496" r:id="rId5"/>
    <p:sldId id="1507" r:id="rId6"/>
    <p:sldId id="1497" r:id="rId7"/>
    <p:sldId id="1498" r:id="rId8"/>
    <p:sldId id="1499" r:id="rId9"/>
    <p:sldId id="1500" r:id="rId10"/>
    <p:sldId id="1508" r:id="rId11"/>
    <p:sldId id="1501" r:id="rId12"/>
    <p:sldId id="1509" r:id="rId13"/>
    <p:sldId id="1502" r:id="rId14"/>
    <p:sldId id="1503" r:id="rId15"/>
    <p:sldId id="1504" r:id="rId16"/>
    <p:sldId id="1505" r:id="rId17"/>
    <p:sldId id="1510" r:id="rId18"/>
    <p:sldId id="1511" r:id="rId19"/>
    <p:sldId id="1512" r:id="rId20"/>
    <p:sldId id="1513" r:id="rId21"/>
    <p:sldId id="1514" r:id="rId22"/>
    <p:sldId id="1515" r:id="rId23"/>
    <p:sldId id="1516" r:id="rId24"/>
    <p:sldId id="1528" r:id="rId25"/>
    <p:sldId id="1529" r:id="rId26"/>
    <p:sldId id="1530" r:id="rId27"/>
    <p:sldId id="1531" r:id="rId28"/>
    <p:sldId id="1532" r:id="rId29"/>
    <p:sldId id="1533" r:id="rId30"/>
    <p:sldId id="1534" r:id="rId31"/>
    <p:sldId id="1535" r:id="rId32"/>
    <p:sldId id="1536" r:id="rId33"/>
    <p:sldId id="1537" r:id="rId34"/>
    <p:sldId id="1517" r:id="rId35"/>
    <p:sldId id="1518" r:id="rId36"/>
    <p:sldId id="1520" r:id="rId37"/>
    <p:sldId id="1521" r:id="rId38"/>
    <p:sldId id="1522" r:id="rId39"/>
    <p:sldId id="1523" r:id="rId40"/>
    <p:sldId id="1538" r:id="rId41"/>
    <p:sldId id="1539" r:id="rId42"/>
    <p:sldId id="1540" r:id="rId43"/>
    <p:sldId id="1541" r:id="rId44"/>
    <p:sldId id="1524" r:id="rId45"/>
    <p:sldId id="1526" r:id="rId46"/>
    <p:sldId id="1525" r:id="rId47"/>
    <p:sldId id="1527" r:id="rId48"/>
    <p:sldId id="301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ta data inspection and cleaning" id="{20CE05AC-6195-A844-8C4E-AED5625E6857}">
          <p14:sldIdLst>
            <p14:sldId id="1119"/>
            <p14:sldId id="1506"/>
            <p14:sldId id="1496"/>
            <p14:sldId id="1507"/>
            <p14:sldId id="1497"/>
            <p14:sldId id="1498"/>
            <p14:sldId id="1499"/>
            <p14:sldId id="1500"/>
            <p14:sldId id="1508"/>
            <p14:sldId id="1501"/>
            <p14:sldId id="1509"/>
            <p14:sldId id="1502"/>
            <p14:sldId id="1503"/>
            <p14:sldId id="1504"/>
            <p14:sldId id="1505"/>
            <p14:sldId id="1510"/>
            <p14:sldId id="1511"/>
            <p14:sldId id="1512"/>
            <p14:sldId id="1513"/>
            <p14:sldId id="1514"/>
            <p14:sldId id="1515"/>
            <p14:sldId id="1516"/>
          </p14:sldIdLst>
        </p14:section>
        <p14:section name="EDA" id="{06024323-489C-F445-BB91-B357080F1847}">
          <p14:sldIdLst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17"/>
            <p14:sldId id="1518"/>
            <p14:sldId id="1520"/>
            <p14:sldId id="1521"/>
            <p14:sldId id="1522"/>
            <p14:sldId id="1523"/>
          </p14:sldIdLst>
        </p14:section>
        <p14:section name="Summary" id="{88F8A0FB-5699-3A47-93B7-BE31F0A97935}">
          <p14:sldIdLst>
            <p14:sldId id="1538"/>
            <p14:sldId id="1539"/>
            <p14:sldId id="1540"/>
            <p14:sldId id="1541"/>
            <p14:sldId id="1524"/>
            <p14:sldId id="1526"/>
            <p14:sldId id="1525"/>
            <p14:sldId id="1527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FA"/>
    <a:srgbClr val="00589A"/>
    <a:srgbClr val="2CB22F"/>
    <a:srgbClr val="AEFCFC"/>
    <a:srgbClr val="E0C1FF"/>
    <a:srgbClr val="CC99FF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95250" autoAdjust="0"/>
  </p:normalViewPr>
  <p:slideViewPr>
    <p:cSldViewPr snapToGrid="0">
      <p:cViewPr varScale="1">
        <p:scale>
          <a:sx n="71" d="100"/>
          <a:sy n="71" d="100"/>
        </p:scale>
        <p:origin x="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9" d="100"/>
        <a:sy n="12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28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950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2E1A-1336-F1E9-11CD-B43881BA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5FD40-4698-0120-9B68-2E1D6E6AD50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46583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13EA-25A5-449D-1B2D-0326F1B28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2F540-8495-9EC6-C3EB-4DDE65D84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8361-BE44-E898-14E7-64424B0B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9FD6-28DB-021D-F780-195FE9AB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A62AB-E135-B552-87A3-C19C8BF6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30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8676-F3DE-FCC0-E216-E7170B13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13B17-9FA2-339F-DDDD-E9ED09AAD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FB0-4C97-7A49-0733-EBC5E727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0EA42-1BD1-D599-04D4-04DE80A9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2DA45-8304-7858-B6D2-D9579ADD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99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ECE0-AB68-0E6F-B34F-C1688ABF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5F4BC-C442-EB53-BE99-17B550E64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0B30-4513-E14B-CC06-8149467E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670C-D211-AD51-A710-FC3C5DCC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96665-7425-98CA-1CD6-FB83606E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6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693-22FA-EACA-C371-A15C5817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212-0A44-2DEA-2950-FB6CBFE4A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AEDE6-06C8-86D8-BA37-1C85EDF97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AE1DF-3A0E-5629-4E1B-BE1930DF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90E8B-31DB-8FD9-D2EC-E3F7760C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0F0E3-BB5E-2E68-8CD1-B037286F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41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B03A-8432-DFE1-9AAD-59B708A3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EBE50-D7FE-B550-87EB-F29F83C3F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99303-C309-93E5-4384-D5F0E6D9D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ED230-9A7C-5DF7-7A10-FA1C577FF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B60C1-312F-5861-6C07-57FCF22FD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88E7E-82F8-E904-8A01-A042A504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E6838-D165-71EB-7063-541F41FF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3197B0-1509-3A7A-CBDD-D9C87130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51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DF93-D8D5-3CE0-2FDD-12D72230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9E06E-0D35-3226-FCFD-4BEC9FDD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E2D0C-F855-E826-06D3-A6656A1C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B4ABE-C800-2AEE-E689-6412C595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28769-80C6-DD6A-D13B-7A44ADB3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A397B-A86A-1ED1-B001-D0D1D05F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683E-4A60-A97A-8ADB-8142C8AF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06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D0AD-8C14-AC52-E67A-0C5F2912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C62E-0C9A-E806-01DD-D9300E376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8102F-CF19-E0C1-C97E-5DD2E36B4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CA86-570E-CFB6-F4B4-B13F5790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20A10-F67B-8523-34DF-85B3D870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07DC6-E512-A998-B05E-7699B2C9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41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222E-7F47-46D9-0317-6F188561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42980-77E5-D1DC-8DF5-C9B1B9DC1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3CA97-A29C-48B7-868B-097996CD8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FB56D-15B9-4C95-B0F1-E41C11746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642D7-7A5C-8EB7-CC59-D3A7E50C9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86984-9D9B-C2C8-0F42-278A2CC6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82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46CC-4615-4A55-5BC6-8DF5535B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E9234-CB16-E705-B5DE-944DD8314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0FEE-D2FB-F421-9303-DD26710E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FC3F4-9391-B66E-64A3-963363FE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7F891-FA32-A9FE-33B9-0846FB0E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499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26A3B-A768-6EAD-09CA-AEB6A5785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43125-4AF2-3744-DED9-4BF22CEC8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FAEE0-52A9-EE9E-B51B-B772603C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FDB74-B2DA-37D8-85B3-3EA91525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93CB5-DB83-20DF-F77B-A1D52178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9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6CBC6-2083-11F2-03D1-A02AF9939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DC441-3BB2-0F08-90CC-AA8B86E8B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D59C-B8C0-89EF-3F3C-80BA2CFDB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5B585F-4A6E-8D49-A7B7-D76A11766BC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133E7-3387-4032-E0C6-3E27439A2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0E24-74B6-7208-F52F-988B5982A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9448E-BE91-0F49-9734-58B9FC1F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7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822732" y="2092420"/>
            <a:ext cx="4741333" cy="42171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3600" u="sng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Retail Data Inspection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By : Athul Das P</a:t>
            </a: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589A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08/10/25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5AF550-E933-81B0-93DF-6374E58AEC2E}"/>
              </a:ext>
            </a:extLst>
          </p:cNvPr>
          <p:cNvSpPr txBox="1"/>
          <p:nvPr/>
        </p:nvSpPr>
        <p:spPr>
          <a:xfrm>
            <a:off x="246102" y="1260730"/>
            <a:ext cx="113537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“The dataset used in this project represents a </a:t>
            </a:r>
            <a:r>
              <a:rPr lang="en-IN" b="1" dirty="0"/>
              <a:t>retail company’s transactional and operational data</a:t>
            </a:r>
            <a:r>
              <a:rPr lang="en-IN" dirty="0"/>
              <a:t> collected from multiple stores across different regions.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contains detailed information about </a:t>
            </a:r>
            <a:r>
              <a:rPr lang="en-IN" b="1" dirty="0"/>
              <a:t>customers, orders, payments, products, stores,</a:t>
            </a:r>
            <a:r>
              <a:rPr lang="en-IN" dirty="0"/>
              <a:t> and </a:t>
            </a:r>
            <a:r>
              <a:rPr lang="en-IN" b="1" dirty="0"/>
              <a:t>customer reviews.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main goal of this analysis was to perform a </a:t>
            </a:r>
            <a:r>
              <a:rPr lang="en-IN" b="1" dirty="0"/>
              <a:t>comprehensive data inspection</a:t>
            </a:r>
            <a:r>
              <a:rPr lang="en-IN" dirty="0"/>
              <a:t> to ensure the accuracy, consistency, and reliability of the data before it can be used for business insights or reporting.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Through this inspection, we identify issues such as </a:t>
            </a:r>
            <a:r>
              <a:rPr lang="en-IN" b="1" dirty="0"/>
              <a:t>duplicates, missing values, inconsistent formats, logical errors</a:t>
            </a:r>
            <a:r>
              <a:rPr lang="en-IN" dirty="0"/>
              <a:t> and </a:t>
            </a:r>
            <a:r>
              <a:rPr lang="en-IN" b="1" dirty="0"/>
              <a:t>data type mismatches</a:t>
            </a:r>
            <a:r>
              <a:rPr lang="en-IN" dirty="0"/>
              <a:t>, and propose suitable solutions to improve overall </a:t>
            </a:r>
            <a:r>
              <a:rPr lang="en-IN" b="1" dirty="0"/>
              <a:t>data quality and integrity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Ultimately, the findings from this process help create a clean and reliable dataset that can support better </a:t>
            </a:r>
            <a:r>
              <a:rPr lang="en-IN" b="1" dirty="0"/>
              <a:t>sales analysis, customer understanding,</a:t>
            </a:r>
            <a:r>
              <a:rPr lang="en-IN" dirty="0"/>
              <a:t> and </a:t>
            </a:r>
            <a:r>
              <a:rPr lang="en-IN" b="1" dirty="0"/>
              <a:t>decision-making</a:t>
            </a:r>
            <a:r>
              <a:rPr lang="en-IN" dirty="0"/>
              <a:t> for the retail business.”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52B7E-57D5-225C-CAD1-9E14A064F9FC}"/>
              </a:ext>
            </a:extLst>
          </p:cNvPr>
          <p:cNvSpPr txBox="1"/>
          <p:nvPr/>
        </p:nvSpPr>
        <p:spPr>
          <a:xfrm>
            <a:off x="4484016" y="372388"/>
            <a:ext cx="3223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Business Context</a:t>
            </a:r>
          </a:p>
        </p:txBody>
      </p:sp>
    </p:spTree>
    <p:extLst>
      <p:ext uri="{BB962C8B-B14F-4D97-AF65-F5344CB8AC3E}">
        <p14:creationId xmlns:p14="http://schemas.microsoft.com/office/powerpoint/2010/main" val="60694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BCF00A-83F3-A0E5-33DE-3DB2CDE63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711473"/>
              </p:ext>
            </p:extLst>
          </p:nvPr>
        </p:nvGraphicFramePr>
        <p:xfrm>
          <a:off x="203200" y="1143000"/>
          <a:ext cx="11760201" cy="50419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185680">
                  <a:extLst>
                    <a:ext uri="{9D8B030D-6E8A-4147-A177-3AD203B41FA5}">
                      <a16:colId xmlns:a16="http://schemas.microsoft.com/office/drawing/2014/main" val="2591292485"/>
                    </a:ext>
                  </a:extLst>
                </a:gridCol>
                <a:gridCol w="2185680">
                  <a:extLst>
                    <a:ext uri="{9D8B030D-6E8A-4147-A177-3AD203B41FA5}">
                      <a16:colId xmlns:a16="http://schemas.microsoft.com/office/drawing/2014/main" val="1938940251"/>
                    </a:ext>
                  </a:extLst>
                </a:gridCol>
                <a:gridCol w="2185680">
                  <a:extLst>
                    <a:ext uri="{9D8B030D-6E8A-4147-A177-3AD203B41FA5}">
                      <a16:colId xmlns:a16="http://schemas.microsoft.com/office/drawing/2014/main" val="3788497255"/>
                    </a:ext>
                  </a:extLst>
                </a:gridCol>
                <a:gridCol w="2252813">
                  <a:extLst>
                    <a:ext uri="{9D8B030D-6E8A-4147-A177-3AD203B41FA5}">
                      <a16:colId xmlns:a16="http://schemas.microsoft.com/office/drawing/2014/main" val="3169250278"/>
                    </a:ext>
                  </a:extLst>
                </a:gridCol>
                <a:gridCol w="2950348">
                  <a:extLst>
                    <a:ext uri="{9D8B030D-6E8A-4147-A177-3AD203B41FA5}">
                      <a16:colId xmlns:a16="http://schemas.microsoft.com/office/drawing/2014/main" val="115066282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Primary key &amp; foreign keys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Unique columns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Relationship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752315"/>
                  </a:ext>
                </a:extLst>
              </a:tr>
              <a:tr h="9271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Custid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customer_city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customer_state</a:t>
                      </a:r>
                      <a:r>
                        <a:rPr lang="en-US" sz="1400" dirty="0"/>
                        <a:t>, Gender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(Orders, on [Custid])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Data about the customers location and gender. Each customer  have a unique customer id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165705"/>
                  </a:ext>
                </a:extLst>
              </a:tr>
              <a:tr h="126492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Orders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Customerid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, productid</a:t>
                      </a:r>
                    </a:p>
                    <a:p>
                      <a:pPr algn="l"/>
                      <a:r>
                        <a:rPr lang="en-US" sz="1400" dirty="0" err="1"/>
                        <a:t>Fk</a:t>
                      </a:r>
                      <a:r>
                        <a:rPr lang="en-US" sz="1400" dirty="0"/>
                        <a:t> : </a:t>
                      </a:r>
                      <a:r>
                        <a:rPr lang="en-US" sz="1400" dirty="0" err="1"/>
                        <a:t>Storeid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Channel, </a:t>
                      </a:r>
                      <a:r>
                        <a:rPr lang="en-US" sz="1400" dirty="0" err="1"/>
                        <a:t>Bill_date_timestamp</a:t>
                      </a:r>
                      <a:r>
                        <a:rPr lang="en-US" sz="1400" dirty="0"/>
                        <a:t>,</a:t>
                      </a:r>
                    </a:p>
                    <a:p>
                      <a:r>
                        <a:rPr lang="en-US" sz="1400" dirty="0"/>
                        <a:t>Quantity, Cost per unit, MRP, Discount, Total 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Many to one ( Customers- [Custid]</a:t>
                      </a:r>
                    </a:p>
                    <a:p>
                      <a:r>
                        <a:rPr lang="en-US" sz="1400" dirty="0" err="1"/>
                        <a:t>Productsinfo</a:t>
                      </a:r>
                      <a:r>
                        <a:rPr lang="en-US" sz="1400" dirty="0"/>
                        <a:t>-[Productid]</a:t>
                      </a:r>
                    </a:p>
                    <a:p>
                      <a:r>
                        <a:rPr lang="en-US" sz="1400" dirty="0" err="1"/>
                        <a:t>Storeinfo</a:t>
                      </a:r>
                      <a:r>
                        <a:rPr lang="en-US" sz="1400" dirty="0"/>
                        <a:t>-[</a:t>
                      </a:r>
                      <a:r>
                        <a:rPr lang="en-US" sz="1400" dirty="0" err="1"/>
                        <a:t>Storeid</a:t>
                      </a:r>
                      <a:r>
                        <a:rPr lang="en-US" sz="1400" dirty="0"/>
                        <a:t>]</a:t>
                      </a:r>
                    </a:p>
                    <a:p>
                      <a:r>
                        <a:rPr lang="en-US" sz="1400" dirty="0" err="1"/>
                        <a:t>Orderpaymnts</a:t>
                      </a:r>
                      <a:r>
                        <a:rPr lang="en-US" sz="1400" dirty="0"/>
                        <a:t>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The Orders table contains detailed information about customer purchase transactions.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418882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Order payments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orderid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Payment_type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Payment_value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The table includes details such as the payment type (e.g., credit card, UPI, voucher, etc.) and the payment value, which reflects the total amount paid for that order.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20164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Order review ratings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orderid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satisfaction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one (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Table records customer rating for each order placed.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5410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1C567C-EEBA-FBBF-4AB6-3031880029D0}"/>
              </a:ext>
            </a:extLst>
          </p:cNvPr>
          <p:cNvSpPr txBox="1"/>
          <p:nvPr/>
        </p:nvSpPr>
        <p:spPr>
          <a:xfrm>
            <a:off x="4432300" y="317500"/>
            <a:ext cx="3663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Data Dictionary (1/2)</a:t>
            </a:r>
          </a:p>
        </p:txBody>
      </p:sp>
    </p:spTree>
    <p:extLst>
      <p:ext uri="{BB962C8B-B14F-4D97-AF65-F5344CB8AC3E}">
        <p14:creationId xmlns:p14="http://schemas.microsoft.com/office/powerpoint/2010/main" val="27084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58574C-0EBB-867E-49EA-29C761B90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4769"/>
              </p:ext>
            </p:extLst>
          </p:nvPr>
        </p:nvGraphicFramePr>
        <p:xfrm>
          <a:off x="228600" y="1196801"/>
          <a:ext cx="11734800" cy="49740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346960">
                  <a:extLst>
                    <a:ext uri="{9D8B030D-6E8A-4147-A177-3AD203B41FA5}">
                      <a16:colId xmlns:a16="http://schemas.microsoft.com/office/drawing/2014/main" val="3861674175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4018743631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56950173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640119854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1062081853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Table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Primary key &amp; foreign keys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Unique columns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Relationship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133649"/>
                  </a:ext>
                </a:extLst>
              </a:tr>
              <a:tr h="197819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Products info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Pk : productid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Category,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product_name_length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product_description_length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product_photos_qty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product_weight_g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product_length_cm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product_height_cm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product_width_cm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One to many (</a:t>
                      </a:r>
                    </a:p>
                    <a:p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Orders-[productid] )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The </a:t>
                      </a:r>
                      <a:r>
                        <a:rPr lang="en-IN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ProductsInfo</a:t>
                      </a: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table contains detailed information about each product available in the company’s </a:t>
                      </a:r>
                      <a:r>
                        <a:rPr lang="en-IN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catalog</a:t>
                      </a: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. 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308658"/>
                  </a:ext>
                </a:extLst>
              </a:tr>
              <a:tr h="225921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Stores 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storeid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Seller city, seller state, Region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(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Storeid</a:t>
                      </a:r>
                      <a:r>
                        <a:rPr lang="en-US" sz="1400" dirty="0"/>
                        <a:t>]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Each store is uniquely identified by a </a:t>
                      </a:r>
                      <a:r>
                        <a:rPr lang="en-IN" sz="1400" b="0" u="none" strike="noStrike" cap="none" dirty="0" err="1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StoreID</a:t>
                      </a:r>
                      <a:r>
                        <a:rPr lang="en-IN" sz="1400" b="0" u="none" strike="noStrike" cap="none" dirty="0">
                          <a:solidFill>
                            <a:schemeClr val="dk1"/>
                          </a:solidFill>
                          <a:effectLst/>
                          <a:sym typeface="Arial"/>
                        </a:rPr>
                        <a:t> and includes details such as the seller city, seller state, and the corresponding region (North, South, East, or West).</a:t>
                      </a:r>
                      <a:r>
                        <a:rPr lang="en-IN" sz="1400" dirty="0">
                          <a:effectLst/>
                        </a:rPr>
                        <a:t> 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3453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A69D7A-C701-4CC2-F73B-957F96E017DA}"/>
              </a:ext>
            </a:extLst>
          </p:cNvPr>
          <p:cNvSpPr txBox="1"/>
          <p:nvPr/>
        </p:nvSpPr>
        <p:spPr>
          <a:xfrm>
            <a:off x="4432300" y="317500"/>
            <a:ext cx="3663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Data Dictionary (2/2)</a:t>
            </a:r>
          </a:p>
        </p:txBody>
      </p:sp>
    </p:spTree>
    <p:extLst>
      <p:ext uri="{BB962C8B-B14F-4D97-AF65-F5344CB8AC3E}">
        <p14:creationId xmlns:p14="http://schemas.microsoft.com/office/powerpoint/2010/main" val="255720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FA9F3-BAFE-888A-0892-1BD03515D173}"/>
              </a:ext>
            </a:extLst>
          </p:cNvPr>
          <p:cNvSpPr txBox="1"/>
          <p:nvPr/>
        </p:nvSpPr>
        <p:spPr>
          <a:xfrm>
            <a:off x="3302597" y="353211"/>
            <a:ext cx="5577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Table Relationships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55A2AD-6E6E-151D-F94D-6FD8B089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7" y="1129554"/>
            <a:ext cx="11698941" cy="49619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11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07E88C-BDA2-C3CF-3A2B-340D2AF609AE}"/>
              </a:ext>
            </a:extLst>
          </p:cNvPr>
          <p:cNvSpPr txBox="1"/>
          <p:nvPr/>
        </p:nvSpPr>
        <p:spPr>
          <a:xfrm>
            <a:off x="2824110" y="307489"/>
            <a:ext cx="6543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u="sng" dirty="0"/>
              <a:t> Data checks and Data Consistencies</a:t>
            </a:r>
            <a:endParaRPr lang="en-US" sz="28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B831-FBC1-DDF3-A3D5-ED6A3334D7C5}"/>
              </a:ext>
            </a:extLst>
          </p:cNvPr>
          <p:cNvSpPr txBox="1"/>
          <p:nvPr/>
        </p:nvSpPr>
        <p:spPr>
          <a:xfrm>
            <a:off x="342900" y="996890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3DFDB-9ED5-3848-22F8-F620B9F4EF12}"/>
              </a:ext>
            </a:extLst>
          </p:cNvPr>
          <p:cNvSpPr txBox="1"/>
          <p:nvPr/>
        </p:nvSpPr>
        <p:spPr>
          <a:xfrm>
            <a:off x="342900" y="1517014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8949F-C44C-EBA5-2CC2-5288B0E4D99A}"/>
              </a:ext>
            </a:extLst>
          </p:cNvPr>
          <p:cNvSpPr txBox="1"/>
          <p:nvPr/>
        </p:nvSpPr>
        <p:spPr>
          <a:xfrm>
            <a:off x="342900" y="1886346"/>
            <a:ext cx="51454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of records : 99441.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Columns : </a:t>
            </a:r>
            <a:r>
              <a:rPr lang="en-US" sz="1400" dirty="0" err="1"/>
              <a:t>Cust_id</a:t>
            </a:r>
            <a:r>
              <a:rPr lang="en-US" sz="1400" dirty="0"/>
              <a:t>, </a:t>
            </a:r>
            <a:r>
              <a:rPr lang="en-US" sz="1400" dirty="0" err="1"/>
              <a:t>customer_city</a:t>
            </a:r>
            <a:r>
              <a:rPr lang="en-US" sz="1400" dirty="0"/>
              <a:t>, </a:t>
            </a:r>
            <a:r>
              <a:rPr lang="en-US" sz="1400" dirty="0" err="1"/>
              <a:t>customer_state</a:t>
            </a:r>
            <a:r>
              <a:rPr lang="en-US" sz="1400" dirty="0"/>
              <a:t>, Gender.</a:t>
            </a:r>
          </a:p>
          <a:p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53F86-7FA7-E6BE-F622-89FEB517ECD8}"/>
              </a:ext>
            </a:extLst>
          </p:cNvPr>
          <p:cNvSpPr txBox="1"/>
          <p:nvPr/>
        </p:nvSpPr>
        <p:spPr>
          <a:xfrm>
            <a:off x="342900" y="2369751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3CF88-E56B-F0B9-C707-2E37DAA65364}"/>
              </a:ext>
            </a:extLst>
          </p:cNvPr>
          <p:cNvSpPr txBox="1"/>
          <p:nvPr/>
        </p:nvSpPr>
        <p:spPr>
          <a:xfrm>
            <a:off x="342900" y="2739083"/>
            <a:ext cx="24545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duplicates in </a:t>
            </a:r>
            <a:r>
              <a:rPr lang="en-US" sz="1400" dirty="0" err="1"/>
              <a:t>Cust_id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duplicate </a:t>
            </a:r>
            <a:r>
              <a:rPr lang="en-US" sz="1400" dirty="0" err="1"/>
              <a:t>reocrds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null values.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C2F64-4406-2DCC-94A8-BDE170FE53FA}"/>
              </a:ext>
            </a:extLst>
          </p:cNvPr>
          <p:cNvSpPr txBox="1"/>
          <p:nvPr/>
        </p:nvSpPr>
        <p:spPr>
          <a:xfrm>
            <a:off x="342900" y="350058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5E20F1-BA3F-C26D-0635-B2098A1FBC56}"/>
              </a:ext>
            </a:extLst>
          </p:cNvPr>
          <p:cNvSpPr txBox="1"/>
          <p:nvPr/>
        </p:nvSpPr>
        <p:spPr>
          <a:xfrm>
            <a:off x="342900" y="3869915"/>
            <a:ext cx="440351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Gender distribution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Male : 29979.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Female : 69462.</a:t>
            </a:r>
          </a:p>
          <a:p>
            <a:r>
              <a:rPr lang="en-IN" sz="1400" b="1" dirty="0"/>
              <a:t>Cities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Total of 4119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City with most customers: </a:t>
            </a:r>
            <a:r>
              <a:rPr lang="en-IN" sz="1400" dirty="0" err="1"/>
              <a:t>Akkarampalle</a:t>
            </a:r>
            <a:r>
              <a:rPr lang="en-IN" sz="1400" dirty="0"/>
              <a:t> (15,540).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7501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1BBE00-FAE5-C51B-6357-35BBC03E752B}"/>
              </a:ext>
            </a:extLst>
          </p:cNvPr>
          <p:cNvSpPr txBox="1"/>
          <p:nvPr/>
        </p:nvSpPr>
        <p:spPr>
          <a:xfrm>
            <a:off x="336177" y="308086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Orders (1/3)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EB146-EE8B-61A0-8D7D-A081F2DCFBAB}"/>
              </a:ext>
            </a:extLst>
          </p:cNvPr>
          <p:cNvSpPr txBox="1"/>
          <p:nvPr/>
        </p:nvSpPr>
        <p:spPr>
          <a:xfrm>
            <a:off x="336177" y="1025154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9AC96-3BBB-FECD-5B00-5E8BB35BFE51}"/>
              </a:ext>
            </a:extLst>
          </p:cNvPr>
          <p:cNvSpPr txBox="1"/>
          <p:nvPr/>
        </p:nvSpPr>
        <p:spPr>
          <a:xfrm>
            <a:off x="336177" y="1394486"/>
            <a:ext cx="1017015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of records : 112650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of unique order id : 98666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400" dirty="0"/>
              <a:t>Columns : </a:t>
            </a:r>
            <a:r>
              <a:rPr lang="en-IN" sz="1400" dirty="0"/>
              <a:t>Customer_id,order_id,product_id,Channel,Delivered_StoreID,Bill_date_timestamp,Quantity, Cost Per </a:t>
            </a:r>
            <a:r>
              <a:rPr lang="en-IN" sz="1400" dirty="0" err="1"/>
              <a:t>Unit,MRP</a:t>
            </a:r>
            <a:r>
              <a:rPr lang="en-IN" sz="1400" dirty="0"/>
              <a:t>,</a:t>
            </a:r>
          </a:p>
          <a:p>
            <a:pPr fontAlgn="b"/>
            <a:r>
              <a:rPr lang="en-IN" sz="1400" dirty="0"/>
              <a:t>                        </a:t>
            </a:r>
            <a:r>
              <a:rPr lang="en-IN" sz="1400" dirty="0" err="1"/>
              <a:t>Discount,Total</a:t>
            </a:r>
            <a:r>
              <a:rPr lang="en-IN" sz="1400" dirty="0"/>
              <a:t> Amount.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F34EB-F24A-170F-C75F-50BD9B595AB6}"/>
              </a:ext>
            </a:extLst>
          </p:cNvPr>
          <p:cNvSpPr txBox="1"/>
          <p:nvPr/>
        </p:nvSpPr>
        <p:spPr>
          <a:xfrm>
            <a:off x="336177" y="228229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B0E80-E6FB-594D-E1EE-0D107DF852FC}"/>
              </a:ext>
            </a:extLst>
          </p:cNvPr>
          <p:cNvSpPr txBox="1"/>
          <p:nvPr/>
        </p:nvSpPr>
        <p:spPr>
          <a:xfrm>
            <a:off x="336177" y="2625592"/>
            <a:ext cx="108248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400" u="sng" dirty="0"/>
              <a:t>Cumulative count issue</a:t>
            </a:r>
            <a:endParaRPr lang="en-IN" sz="1400" dirty="0"/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IN" sz="1400" dirty="0"/>
              <a:t>for some orders, multiple records exist with identical customer, order, and product ID and the same time but varying quantities and total amounts. So duplicate entries are there.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2D170B-32F4-6E81-0FDD-5A7C2324D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9"/>
          <a:stretch>
            <a:fillRect/>
          </a:stretch>
        </p:blipFill>
        <p:spPr>
          <a:xfrm>
            <a:off x="336177" y="3407823"/>
            <a:ext cx="10461815" cy="127621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8CBF948-69E3-8D5F-A691-477F3A5D030D}"/>
              </a:ext>
            </a:extLst>
          </p:cNvPr>
          <p:cNvSpPr/>
          <p:nvPr/>
        </p:nvSpPr>
        <p:spPr>
          <a:xfrm>
            <a:off x="7580424" y="3576908"/>
            <a:ext cx="616688" cy="11816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EFAE75-FF5E-EF28-BAAB-D75F6B21D8E0}"/>
              </a:ext>
            </a:extLst>
          </p:cNvPr>
          <p:cNvSpPr txBox="1"/>
          <p:nvPr/>
        </p:nvSpPr>
        <p:spPr>
          <a:xfrm>
            <a:off x="574158" y="4684038"/>
            <a:ext cx="10586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This is a major issue .The Quantity values appear to be incremental, with the highest (last) Quantity value representing the final total ordered quantity</a:t>
            </a:r>
            <a:r>
              <a:rPr lang="en-IN" sz="1400" b="1" dirty="0"/>
              <a:t>.</a:t>
            </a:r>
            <a:endParaRPr 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7E012-535C-BCB0-5967-7A8D500C1DE8}"/>
              </a:ext>
            </a:extLst>
          </p:cNvPr>
          <p:cNvSpPr txBox="1"/>
          <p:nvPr/>
        </p:nvSpPr>
        <p:spPr>
          <a:xfrm>
            <a:off x="336177" y="5288030"/>
            <a:ext cx="542648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1400" u="sng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Keep only the record with the maximum Quantity per </a:t>
            </a:r>
            <a:r>
              <a:rPr lang="en-IN" sz="1400" dirty="0" err="1"/>
              <a:t>Order_ID</a:t>
            </a:r>
            <a:r>
              <a:rPr lang="en-IN" sz="1400" dirty="0"/>
              <a:t>.</a:t>
            </a:r>
            <a:endParaRPr lang="en-US" sz="1400" dirty="0"/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94697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F029-7C76-B4AE-70D1-824DC96DAFE6}"/>
              </a:ext>
            </a:extLst>
          </p:cNvPr>
          <p:cNvSpPr txBox="1"/>
          <p:nvPr/>
        </p:nvSpPr>
        <p:spPr>
          <a:xfrm>
            <a:off x="324015" y="763593"/>
            <a:ext cx="113407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400" u="sng" dirty="0"/>
              <a:t>Date format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While importing the dataset into SQL Server, the import process failed, because </a:t>
            </a:r>
            <a:r>
              <a:rPr lang="en-IN" sz="1400" dirty="0" err="1"/>
              <a:t>Bill_date_timestamp</a:t>
            </a:r>
            <a:r>
              <a:rPr lang="en-IN" sz="1400" dirty="0"/>
              <a:t> column</a:t>
            </a:r>
          </a:p>
          <a:p>
            <a:r>
              <a:rPr lang="en-IN" sz="1400" dirty="0"/>
              <a:t>     was in the datetime2 format</a:t>
            </a:r>
            <a:r>
              <a:rPr lang="en-IN" sz="1600" dirty="0"/>
              <a:t>.</a:t>
            </a:r>
          </a:p>
          <a:p>
            <a:pPr fontAlgn="b"/>
            <a:r>
              <a:rPr lang="en-IN" sz="1400" u="sng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 successfully complete the import, the column was temporarily converted to the </a:t>
            </a:r>
            <a:r>
              <a:rPr lang="en-IN" sz="1400" dirty="0" err="1"/>
              <a:t>nvarchar</a:t>
            </a:r>
            <a:r>
              <a:rPr lang="en-IN" sz="1400" dirty="0"/>
              <a:t> (text) data type during import. Once the data was loaded, the column was converted back to the appropriate datetime2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41B47-085C-12F5-75D0-49C4E8CF7C37}"/>
              </a:ext>
            </a:extLst>
          </p:cNvPr>
          <p:cNvSpPr txBox="1"/>
          <p:nvPr/>
        </p:nvSpPr>
        <p:spPr>
          <a:xfrm>
            <a:off x="6999553" y="4509606"/>
            <a:ext cx="47504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Billing consistency verified</a:t>
            </a:r>
            <a:r>
              <a:rPr lang="en-IN" sz="1400" dirty="0"/>
              <a:t>:</a:t>
            </a:r>
          </a:p>
          <a:p>
            <a:r>
              <a:rPr lang="en-IN" sz="1400" dirty="0"/>
              <a:t>Total Amount = Quantity × (MRP - Discount) holds consistently.</a:t>
            </a:r>
            <a:endParaRPr lang="en-IN" sz="1400" b="1" dirty="0"/>
          </a:p>
          <a:p>
            <a:r>
              <a:rPr lang="en-IN" sz="1400" b="1" dirty="0"/>
              <a:t>Order timeline</a:t>
            </a:r>
            <a:r>
              <a:rPr lang="en-IN" sz="1400" dirty="0"/>
              <a:t>: </a:t>
            </a:r>
          </a:p>
          <a:p>
            <a:r>
              <a:rPr lang="en-IN" sz="1400" dirty="0"/>
              <a:t>Data includes orders from Feb 2020 through Oct 2023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DC1AB-3A76-C8D5-7BAC-A8A021D66EDB}"/>
              </a:ext>
            </a:extLst>
          </p:cNvPr>
          <p:cNvSpPr txBox="1"/>
          <p:nvPr/>
        </p:nvSpPr>
        <p:spPr>
          <a:xfrm>
            <a:off x="324015" y="2350817"/>
            <a:ext cx="784862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1400" u="sng" dirty="0" err="1"/>
              <a:t>Orderid</a:t>
            </a:r>
            <a:r>
              <a:rPr lang="en-US" sz="1400" u="sng" dirty="0"/>
              <a:t> count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</a:t>
            </a:r>
            <a:r>
              <a:rPr lang="en-US" sz="1400" dirty="0" err="1"/>
              <a:t>orderids</a:t>
            </a:r>
            <a:r>
              <a:rPr lang="en-US" sz="1400" dirty="0"/>
              <a:t> which are present in </a:t>
            </a:r>
            <a:r>
              <a:rPr lang="en-US" sz="1400" dirty="0" err="1"/>
              <a:t>orderpayments</a:t>
            </a:r>
            <a:r>
              <a:rPr lang="en-US" sz="1400" dirty="0"/>
              <a:t> table are not present in the orders tables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u="sng" dirty="0"/>
          </a:p>
          <a:p>
            <a:pPr fontAlgn="b"/>
            <a:r>
              <a:rPr lang="en-IN" sz="1400" u="sng" dirty="0" err="1"/>
              <a:t>Orderid</a:t>
            </a:r>
            <a:r>
              <a:rPr lang="en-IN" sz="1400" u="sng" dirty="0"/>
              <a:t> integrity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Identified cases where the same order ID was linked to multiple customers</a:t>
            </a:r>
            <a:r>
              <a:rPr lang="en-IN" dirty="0"/>
              <a:t>. 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C14E3F-BBA0-D1AD-A4F1-9996224E2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15" y="3643479"/>
            <a:ext cx="5803900" cy="14509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3DD32E-6432-BB47-A3FE-3AD402C34EC7}"/>
              </a:ext>
            </a:extLst>
          </p:cNvPr>
          <p:cNvSpPr/>
          <p:nvPr/>
        </p:nvSpPr>
        <p:spPr>
          <a:xfrm>
            <a:off x="6881541" y="4368931"/>
            <a:ext cx="4986444" cy="145090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99907-F7B5-CCF2-7BA8-6EC39885CFC3}"/>
              </a:ext>
            </a:extLst>
          </p:cNvPr>
          <p:cNvSpPr txBox="1"/>
          <p:nvPr/>
        </p:nvSpPr>
        <p:spPr>
          <a:xfrm>
            <a:off x="324015" y="301928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Orders (2/3)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4FADC-451F-F111-548D-B17F20E3B35A}"/>
              </a:ext>
            </a:extLst>
          </p:cNvPr>
          <p:cNvSpPr txBox="1"/>
          <p:nvPr/>
        </p:nvSpPr>
        <p:spPr>
          <a:xfrm>
            <a:off x="324015" y="5244175"/>
            <a:ext cx="4717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1400" u="sng" dirty="0"/>
              <a:t>Order date issue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400" dirty="0"/>
              <a:t>There are orders which were placed before </a:t>
            </a:r>
            <a:r>
              <a:rPr lang="en-US" sz="1400" dirty="0" err="1"/>
              <a:t>sep</a:t>
            </a:r>
            <a:r>
              <a:rPr lang="en-US" sz="1400" dirty="0"/>
              <a:t> 2021.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400" dirty="0"/>
              <a:t>There are 4 such records.</a:t>
            </a:r>
          </a:p>
        </p:txBody>
      </p:sp>
    </p:spTree>
    <p:extLst>
      <p:ext uri="{BB962C8B-B14F-4D97-AF65-F5344CB8AC3E}">
        <p14:creationId xmlns:p14="http://schemas.microsoft.com/office/powerpoint/2010/main" val="125965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F316C-EDF6-CB92-BB23-A998D2742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3" y="1386837"/>
            <a:ext cx="3960696" cy="140604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814145-EC9C-3E02-95F7-63CE807B631A}"/>
              </a:ext>
            </a:extLst>
          </p:cNvPr>
          <p:cNvSpPr txBox="1"/>
          <p:nvPr/>
        </p:nvSpPr>
        <p:spPr>
          <a:xfrm>
            <a:off x="267363" y="709320"/>
            <a:ext cx="3446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1400" u="sng" dirty="0"/>
              <a:t>Store id distribution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Multiple store ids for a single order id.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02EB0-9C0F-FE90-60E3-564EE42D1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331490"/>
              </p:ext>
            </p:extLst>
          </p:nvPr>
        </p:nvGraphicFramePr>
        <p:xfrm>
          <a:off x="4804164" y="1378764"/>
          <a:ext cx="6090579" cy="1341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30193">
                  <a:extLst>
                    <a:ext uri="{9D8B030D-6E8A-4147-A177-3AD203B41FA5}">
                      <a16:colId xmlns:a16="http://schemas.microsoft.com/office/drawing/2014/main" val="4118534813"/>
                    </a:ext>
                  </a:extLst>
                </a:gridCol>
                <a:gridCol w="2030193">
                  <a:extLst>
                    <a:ext uri="{9D8B030D-6E8A-4147-A177-3AD203B41FA5}">
                      <a16:colId xmlns:a16="http://schemas.microsoft.com/office/drawing/2014/main" val="518858415"/>
                    </a:ext>
                  </a:extLst>
                </a:gridCol>
                <a:gridCol w="2030193">
                  <a:extLst>
                    <a:ext uri="{9D8B030D-6E8A-4147-A177-3AD203B41FA5}">
                      <a16:colId xmlns:a16="http://schemas.microsoft.com/office/drawing/2014/main" val="1174474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Discrepancy?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699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Each order must belong to one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quality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59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 allows multi-store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Expected behaviour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5810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EEFE81-87DB-57E8-00E4-2387CE0E5A06}"/>
              </a:ext>
            </a:extLst>
          </p:cNvPr>
          <p:cNvSpPr txBox="1"/>
          <p:nvPr/>
        </p:nvSpPr>
        <p:spPr>
          <a:xfrm>
            <a:off x="289931" y="3087678"/>
            <a:ext cx="7961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Needs further clarification from the client</a:t>
            </a:r>
          </a:p>
          <a:p>
            <a:endParaRPr lang="en-US" sz="1400" u="sng" dirty="0"/>
          </a:p>
          <a:p>
            <a:r>
              <a:rPr lang="en-US" sz="1400" u="sng" dirty="0"/>
              <a:t>Bill date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Same order id having different bill dates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90BA3-76E8-E6EA-334E-A55121FB9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" t="2865" b="10752"/>
          <a:stretch>
            <a:fillRect/>
          </a:stretch>
        </p:blipFill>
        <p:spPr>
          <a:xfrm>
            <a:off x="412593" y="4065102"/>
            <a:ext cx="10394950" cy="8241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40CEA65-ED93-E29A-9DDB-DBF4C4E4A71A}"/>
              </a:ext>
            </a:extLst>
          </p:cNvPr>
          <p:cNvSpPr/>
          <p:nvPr/>
        </p:nvSpPr>
        <p:spPr>
          <a:xfrm>
            <a:off x="7582829" y="4411743"/>
            <a:ext cx="1338147" cy="5505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50E6B-CFDC-7A51-33E8-B7BD56497022}"/>
              </a:ext>
            </a:extLst>
          </p:cNvPr>
          <p:cNvSpPr txBox="1"/>
          <p:nvPr/>
        </p:nvSpPr>
        <p:spPr>
          <a:xfrm>
            <a:off x="289931" y="4962294"/>
            <a:ext cx="104821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If each store updates the billing separately, their billing timestamps will differ — even though the backend mistakenly kept the same order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How this creates discrepancy -- If each store updates the billing separately, their billing timestamps will differ — even though the backend mistakenly kept the same order id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Needs further clarification from the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E2825-D92C-FF5C-A5CD-B74D800AF075}"/>
              </a:ext>
            </a:extLst>
          </p:cNvPr>
          <p:cNvSpPr txBox="1"/>
          <p:nvPr/>
        </p:nvSpPr>
        <p:spPr>
          <a:xfrm>
            <a:off x="267363" y="296375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Orders (3/3)</a:t>
            </a:r>
          </a:p>
        </p:txBody>
      </p:sp>
    </p:spTree>
    <p:extLst>
      <p:ext uri="{BB962C8B-B14F-4D97-AF65-F5344CB8AC3E}">
        <p14:creationId xmlns:p14="http://schemas.microsoft.com/office/powerpoint/2010/main" val="150565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2169E-8E91-71BE-8F9D-85E950E299AC}"/>
              </a:ext>
            </a:extLst>
          </p:cNvPr>
          <p:cNvSpPr txBox="1"/>
          <p:nvPr/>
        </p:nvSpPr>
        <p:spPr>
          <a:xfrm>
            <a:off x="242046" y="328146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err="1">
                <a:solidFill>
                  <a:srgbClr val="0070C0"/>
                </a:solidFill>
              </a:rPr>
              <a:t>OrderPayment</a:t>
            </a:r>
            <a:r>
              <a:rPr lang="en-US" sz="2400" u="sng" dirty="0">
                <a:solidFill>
                  <a:srgbClr val="0070C0"/>
                </a:solidFill>
              </a:rPr>
              <a:t> (1/2)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C07C9-72DC-6040-F1A8-ACED5BEC4471}"/>
              </a:ext>
            </a:extLst>
          </p:cNvPr>
          <p:cNvSpPr txBox="1"/>
          <p:nvPr/>
        </p:nvSpPr>
        <p:spPr>
          <a:xfrm>
            <a:off x="242046" y="849858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C3A99-9C97-7C89-8227-2BF381C37B38}"/>
              </a:ext>
            </a:extLst>
          </p:cNvPr>
          <p:cNvSpPr txBox="1"/>
          <p:nvPr/>
        </p:nvSpPr>
        <p:spPr>
          <a:xfrm>
            <a:off x="242046" y="1219190"/>
            <a:ext cx="4570482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Total records: 103,886.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Unique </a:t>
            </a:r>
            <a:r>
              <a:rPr lang="en-IN" sz="1400" dirty="0" err="1"/>
              <a:t>order_id</a:t>
            </a:r>
            <a:r>
              <a:rPr lang="en-IN" sz="1400" dirty="0"/>
              <a:t>: 99,440.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Columns : </a:t>
            </a:r>
            <a:r>
              <a:rPr lang="en-IN" sz="1400" dirty="0" err="1"/>
              <a:t>order_id</a:t>
            </a:r>
            <a:r>
              <a:rPr lang="en-IN" sz="1400" dirty="0"/>
              <a:t>, </a:t>
            </a:r>
            <a:r>
              <a:rPr lang="en-IN" sz="1400" dirty="0" err="1"/>
              <a:t>payment_type</a:t>
            </a:r>
            <a:r>
              <a:rPr lang="en-IN" sz="1400" dirty="0"/>
              <a:t>, </a:t>
            </a:r>
            <a:r>
              <a:rPr lang="en-IN" sz="1400" dirty="0" err="1"/>
              <a:t>payment_value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Duplicate records: 615 rows across 308 </a:t>
            </a:r>
            <a:r>
              <a:rPr lang="en-IN" sz="1400" dirty="0" err="1"/>
              <a:t>order_ids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Some orders have multiple payment methods.</a:t>
            </a:r>
          </a:p>
          <a:p>
            <a:r>
              <a:rPr lang="en-IN" sz="1400" dirty="0"/>
              <a:t>     # Voucher + Credit Card: 2,245 orders</a:t>
            </a:r>
          </a:p>
          <a:p>
            <a:r>
              <a:rPr lang="en-IN" sz="1400" dirty="0"/>
              <a:t>     # Credit + Debit Card: exists for a single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C07E1E43-27DC-1956-D776-1DB07E6FA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8"/>
          <a:stretch>
            <a:fillRect/>
          </a:stretch>
        </p:blipFill>
        <p:spPr>
          <a:xfrm>
            <a:off x="241301" y="3024356"/>
            <a:ext cx="7138173" cy="10033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A68BFC-0F54-2AF6-BB1B-75ED9C337CA0}"/>
              </a:ext>
            </a:extLst>
          </p:cNvPr>
          <p:cNvSpPr txBox="1"/>
          <p:nvPr/>
        </p:nvSpPr>
        <p:spPr>
          <a:xfrm>
            <a:off x="242046" y="4853226"/>
            <a:ext cx="4180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No null or missing values.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1400" dirty="0"/>
              <a:t>9 entries with zero or negative </a:t>
            </a:r>
            <a:r>
              <a:rPr lang="en-IN" sz="1400" dirty="0" err="1"/>
              <a:t>payment_value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8E2E-3E7A-8C8C-BBCC-79B00AD6D602}"/>
              </a:ext>
            </a:extLst>
          </p:cNvPr>
          <p:cNvSpPr txBox="1"/>
          <p:nvPr/>
        </p:nvSpPr>
        <p:spPr>
          <a:xfrm>
            <a:off x="242046" y="4483894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0DA3DA-C07F-F3B2-3128-0D769EC32843}"/>
              </a:ext>
            </a:extLst>
          </p:cNvPr>
          <p:cNvSpPr/>
          <p:nvPr/>
        </p:nvSpPr>
        <p:spPr>
          <a:xfrm>
            <a:off x="3911601" y="3163610"/>
            <a:ext cx="1445948" cy="1003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8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F0FF23-583E-9BA7-AA57-0DC76A30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503492"/>
            <a:ext cx="11571147" cy="2007454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258BD7-683E-42AB-0FE3-23010FC786C7}"/>
              </a:ext>
            </a:extLst>
          </p:cNvPr>
          <p:cNvSpPr txBox="1"/>
          <p:nvPr/>
        </p:nvSpPr>
        <p:spPr>
          <a:xfrm>
            <a:off x="254000" y="393700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err="1">
                <a:solidFill>
                  <a:srgbClr val="0070C0"/>
                </a:solidFill>
              </a:rPr>
              <a:t>OrderPayment</a:t>
            </a:r>
            <a:r>
              <a:rPr lang="en-US" sz="2400" u="sng" dirty="0">
                <a:solidFill>
                  <a:srgbClr val="0070C0"/>
                </a:solidFill>
              </a:rPr>
              <a:t> (2/2)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E6B0CE-AB12-B49F-B68B-83FEBA520DEE}"/>
              </a:ext>
            </a:extLst>
          </p:cNvPr>
          <p:cNvSpPr/>
          <p:nvPr/>
        </p:nvSpPr>
        <p:spPr>
          <a:xfrm>
            <a:off x="10845800" y="1727199"/>
            <a:ext cx="914400" cy="4953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B09336-99A2-72C4-8620-3C9950B1526C}"/>
              </a:ext>
            </a:extLst>
          </p:cNvPr>
          <p:cNvSpPr/>
          <p:nvPr/>
        </p:nvSpPr>
        <p:spPr>
          <a:xfrm>
            <a:off x="3746500" y="3073400"/>
            <a:ext cx="914400" cy="469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432E06-F318-94DD-A442-36A6AE715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4128499"/>
            <a:ext cx="3759200" cy="101600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40608-64A6-57D7-4445-97292262058D}"/>
              </a:ext>
            </a:extLst>
          </p:cNvPr>
          <p:cNvSpPr txBox="1"/>
          <p:nvPr/>
        </p:nvSpPr>
        <p:spPr>
          <a:xfrm>
            <a:off x="254000" y="898326"/>
            <a:ext cx="95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1400" u="sng" dirty="0"/>
              <a:t>Total amount mismatch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400" dirty="0"/>
              <a:t>There are records in order table whose Total Amount not matching with the payment value in Order Payments table.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C2B6A-64AF-B7E2-A112-235DF2F7A681}"/>
              </a:ext>
            </a:extLst>
          </p:cNvPr>
          <p:cNvSpPr txBox="1"/>
          <p:nvPr/>
        </p:nvSpPr>
        <p:spPr>
          <a:xfrm>
            <a:off x="254000" y="3665834"/>
            <a:ext cx="2204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of such records is,</a:t>
            </a:r>
          </a:p>
        </p:txBody>
      </p:sp>
    </p:spTree>
    <p:extLst>
      <p:ext uri="{BB962C8B-B14F-4D97-AF65-F5344CB8AC3E}">
        <p14:creationId xmlns:p14="http://schemas.microsoft.com/office/powerpoint/2010/main" val="202326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8F220A-3517-22D7-DF96-EF22DB5D9A2B}"/>
              </a:ext>
            </a:extLst>
          </p:cNvPr>
          <p:cNvSpPr txBox="1"/>
          <p:nvPr/>
        </p:nvSpPr>
        <p:spPr>
          <a:xfrm>
            <a:off x="295836" y="613954"/>
            <a:ext cx="3198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 Review Ratings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9EF7F-E3DC-3DC0-C596-30AA5297B682}"/>
              </a:ext>
            </a:extLst>
          </p:cNvPr>
          <p:cNvSpPr txBox="1"/>
          <p:nvPr/>
        </p:nvSpPr>
        <p:spPr>
          <a:xfrm>
            <a:off x="295836" y="1183341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AF796-3067-40DA-631B-A95DCBE1B5AD}"/>
              </a:ext>
            </a:extLst>
          </p:cNvPr>
          <p:cNvSpPr txBox="1"/>
          <p:nvPr/>
        </p:nvSpPr>
        <p:spPr>
          <a:xfrm>
            <a:off x="295836" y="1552673"/>
            <a:ext cx="587372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Total records: 100,000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Columns : </a:t>
            </a:r>
            <a:r>
              <a:rPr lang="en-IN" sz="1400" dirty="0" err="1"/>
              <a:t>order_id</a:t>
            </a:r>
            <a:r>
              <a:rPr lang="en-IN" sz="1400" dirty="0"/>
              <a:t>, </a:t>
            </a:r>
            <a:r>
              <a:rPr lang="en-IN" sz="1400" dirty="0" err="1"/>
              <a:t>Customer_Satisfaction_Score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Duplicates: 555 </a:t>
            </a:r>
            <a:r>
              <a:rPr lang="en-IN" sz="1400" dirty="0" err="1"/>
              <a:t>order_ids</a:t>
            </a:r>
            <a:r>
              <a:rPr lang="en-IN" sz="1400" dirty="0"/>
              <a:t>, each appearing twice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Solution: Delete 1 duplicate row per </a:t>
            </a:r>
            <a:r>
              <a:rPr lang="en-IN" sz="1400" dirty="0" err="1"/>
              <a:t>order_id</a:t>
            </a:r>
            <a:r>
              <a:rPr lang="en-IN" sz="1400" dirty="0"/>
              <a:t> to keep unique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Null values: None — all ratings present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1EBC8-8A57-A12E-AD7F-6C4C9AB81652}"/>
              </a:ext>
            </a:extLst>
          </p:cNvPr>
          <p:cNvSpPr txBox="1"/>
          <p:nvPr/>
        </p:nvSpPr>
        <p:spPr>
          <a:xfrm>
            <a:off x="295836" y="2815086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0BDBD-40A7-8199-6915-03208D78727E}"/>
              </a:ext>
            </a:extLst>
          </p:cNvPr>
          <p:cNvSpPr txBox="1"/>
          <p:nvPr/>
        </p:nvSpPr>
        <p:spPr>
          <a:xfrm>
            <a:off x="295836" y="3184418"/>
            <a:ext cx="2464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 null or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1951799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8A09C3-EA7F-0104-A9B4-DD92C8A635BF}"/>
              </a:ext>
            </a:extLst>
          </p:cNvPr>
          <p:cNvSpPr txBox="1"/>
          <p:nvPr/>
        </p:nvSpPr>
        <p:spPr>
          <a:xfrm>
            <a:off x="376518" y="618565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u="sng">
                <a:solidFill>
                  <a:srgbClr val="0070C0"/>
                </a:solidFill>
              </a:defRPr>
            </a:lvl1pPr>
          </a:lstStyle>
          <a:p>
            <a:r>
              <a:rPr lang="en-US" dirty="0" err="1"/>
              <a:t>Productsinfo</a:t>
            </a:r>
            <a:r>
              <a:rPr lang="en-US" dirty="0"/>
              <a:t> (1/2)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FD072-281A-F8F4-49F3-03EFB0F16985}"/>
              </a:ext>
            </a:extLst>
          </p:cNvPr>
          <p:cNvSpPr txBox="1"/>
          <p:nvPr/>
        </p:nvSpPr>
        <p:spPr>
          <a:xfrm>
            <a:off x="376518" y="1080230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1051C-79B6-B681-05B3-C023471CD3BE}"/>
              </a:ext>
            </a:extLst>
          </p:cNvPr>
          <p:cNvSpPr txBox="1"/>
          <p:nvPr/>
        </p:nvSpPr>
        <p:spPr>
          <a:xfrm>
            <a:off x="376518" y="1449562"/>
            <a:ext cx="606238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records: 32,951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Category, </a:t>
            </a:r>
            <a:r>
              <a:rPr lang="en-IN" sz="1600" dirty="0" err="1"/>
              <a:t>Product_id</a:t>
            </a:r>
            <a:r>
              <a:rPr lang="en-IN" sz="1600" dirty="0"/>
              <a:t>, </a:t>
            </a:r>
            <a:r>
              <a:rPr lang="en-IN" sz="1600" dirty="0" err="1"/>
              <a:t>product_description_length</a:t>
            </a:r>
            <a:r>
              <a:rPr lang="en-IN" sz="1600" dirty="0"/>
              <a:t>, </a:t>
            </a:r>
            <a:r>
              <a:rPr lang="en-IN" sz="1600" dirty="0" err="1"/>
              <a:t>product_height_cm</a:t>
            </a:r>
            <a:r>
              <a:rPr lang="en-IN" sz="1600" dirty="0"/>
              <a:t>, </a:t>
            </a:r>
            <a:r>
              <a:rPr lang="en-IN" sz="1600" dirty="0" err="1"/>
              <a:t>product_length_cm</a:t>
            </a:r>
            <a:r>
              <a:rPr lang="en-IN" sz="1600" dirty="0"/>
              <a:t>, </a:t>
            </a:r>
            <a:r>
              <a:rPr lang="en-IN" sz="1600" dirty="0" err="1"/>
              <a:t>product_name_length</a:t>
            </a:r>
            <a:r>
              <a:rPr lang="en-IN" sz="1600" dirty="0"/>
              <a:t>, </a:t>
            </a:r>
            <a:r>
              <a:rPr lang="en-IN" sz="1600" dirty="0" err="1"/>
              <a:t>product_photos_qty</a:t>
            </a:r>
            <a:r>
              <a:rPr lang="en-IN" sz="1600" dirty="0"/>
              <a:t>, product </a:t>
            </a:r>
            <a:r>
              <a:rPr lang="en-IN" sz="1600" dirty="0" err="1"/>
              <a:t>weight_g</a:t>
            </a:r>
            <a:r>
              <a:rPr lang="en-IN" sz="1600" dirty="0"/>
              <a:t>, </a:t>
            </a:r>
            <a:r>
              <a:rPr lang="en-IN" sz="1600" dirty="0" err="1"/>
              <a:t>product_width_cm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Duplicates: None — all </a:t>
            </a:r>
            <a:r>
              <a:rPr lang="en-IN" sz="1600" dirty="0" err="1"/>
              <a:t>product_ids</a:t>
            </a:r>
            <a:r>
              <a:rPr lang="en-IN" sz="1600" dirty="0"/>
              <a:t> are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13 valid categories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4538D4-617C-11C1-0790-C8EC20806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45"/>
          <a:stretch>
            <a:fillRect/>
          </a:stretch>
        </p:blipFill>
        <p:spPr>
          <a:xfrm>
            <a:off x="6611470" y="820800"/>
            <a:ext cx="5204012" cy="476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FE723C-9F5F-CF3F-B3C7-5EB2EDE1E6FC}"/>
              </a:ext>
            </a:extLst>
          </p:cNvPr>
          <p:cNvSpPr txBox="1"/>
          <p:nvPr/>
        </p:nvSpPr>
        <p:spPr>
          <a:xfrm>
            <a:off x="643218" y="283271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Distribution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1563879-F332-B9A9-B436-DB7D9ED0236D}"/>
              </a:ext>
            </a:extLst>
          </p:cNvPr>
          <p:cNvSpPr/>
          <p:nvPr/>
        </p:nvSpPr>
        <p:spPr>
          <a:xfrm>
            <a:off x="835650" y="395903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03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95366B-77FF-09D2-73B6-AF8FE8652EDA}"/>
              </a:ext>
            </a:extLst>
          </p:cNvPr>
          <p:cNvSpPr txBox="1"/>
          <p:nvPr/>
        </p:nvSpPr>
        <p:spPr>
          <a:xfrm>
            <a:off x="367149" y="1639887"/>
            <a:ext cx="106190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Spelling errors in column names</a:t>
            </a:r>
          </a:p>
          <a:p>
            <a:r>
              <a:rPr lang="en-IN" sz="1600" dirty="0"/>
              <a:t>     Affected columns ; </a:t>
            </a:r>
            <a:r>
              <a:rPr lang="en-IN" sz="1600" dirty="0" err="1"/>
              <a:t>product_name_length</a:t>
            </a:r>
            <a:r>
              <a:rPr lang="en-IN" sz="1600" dirty="0"/>
              <a:t>, </a:t>
            </a:r>
            <a:r>
              <a:rPr lang="en-IN" sz="1600" dirty="0" err="1"/>
              <a:t>product_description_length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623 products have Category = #N/A , Likely missing data during product upload new or unorganized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Out of 623 [#N/A] products 610 have nulls in </a:t>
            </a:r>
            <a:r>
              <a:rPr lang="en-IN" sz="1600" dirty="0" err="1"/>
              <a:t>product_name_length</a:t>
            </a:r>
            <a:r>
              <a:rPr lang="en-IN" sz="1600" dirty="0"/>
              <a:t>,  </a:t>
            </a:r>
            <a:r>
              <a:rPr lang="en-IN" sz="1600" dirty="0" err="1"/>
              <a:t>product_description_length</a:t>
            </a:r>
            <a:r>
              <a:rPr lang="en-IN" sz="1600" dirty="0"/>
              <a:t>, </a:t>
            </a:r>
            <a:r>
              <a:rPr lang="en-IN" sz="1600" dirty="0" err="1"/>
              <a:t>product_photos_qty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product_weight_g</a:t>
            </a:r>
            <a:r>
              <a:rPr lang="en-IN" sz="1600" dirty="0"/>
              <a:t>, </a:t>
            </a:r>
            <a:r>
              <a:rPr lang="en-IN" sz="1600" dirty="0" err="1"/>
              <a:t>product_height_cm</a:t>
            </a:r>
            <a:r>
              <a:rPr lang="en-IN" sz="1600" dirty="0"/>
              <a:t>, </a:t>
            </a:r>
            <a:r>
              <a:rPr lang="en-IN" sz="1600" dirty="0" err="1"/>
              <a:t>product_width_cm</a:t>
            </a:r>
            <a:r>
              <a:rPr lang="en-IN" sz="1600" dirty="0"/>
              <a:t> each have 2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Some products have weight 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F34B8-CB1D-4E07-2084-94C5436EDF5D}"/>
              </a:ext>
            </a:extLst>
          </p:cNvPr>
          <p:cNvSpPr txBox="1"/>
          <p:nvPr/>
        </p:nvSpPr>
        <p:spPr>
          <a:xfrm>
            <a:off x="367149" y="1270555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B86F44-E3E9-CAE7-121B-C364A9CF0B86}"/>
              </a:ext>
            </a:extLst>
          </p:cNvPr>
          <p:cNvSpPr txBox="1"/>
          <p:nvPr/>
        </p:nvSpPr>
        <p:spPr>
          <a:xfrm>
            <a:off x="367149" y="624224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u="sng">
                <a:solidFill>
                  <a:srgbClr val="0070C0"/>
                </a:solidFill>
              </a:defRPr>
            </a:lvl1pPr>
          </a:lstStyle>
          <a:p>
            <a:r>
              <a:rPr lang="en-US" dirty="0" err="1"/>
              <a:t>Productsinfo</a:t>
            </a:r>
            <a:r>
              <a:rPr lang="en-US" dirty="0"/>
              <a:t> (2/2)</a:t>
            </a:r>
          </a:p>
        </p:txBody>
      </p:sp>
    </p:spTree>
    <p:extLst>
      <p:ext uri="{BB962C8B-B14F-4D97-AF65-F5344CB8AC3E}">
        <p14:creationId xmlns:p14="http://schemas.microsoft.com/office/powerpoint/2010/main" val="2023046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FA2A82-4EEC-26E6-E0F0-6C601C3D90E0}"/>
              </a:ext>
            </a:extLst>
          </p:cNvPr>
          <p:cNvSpPr txBox="1"/>
          <p:nvPr/>
        </p:nvSpPr>
        <p:spPr>
          <a:xfrm>
            <a:off x="470647" y="551329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Stores info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41C80-DAFF-4598-92EA-430B79B03B2E}"/>
              </a:ext>
            </a:extLst>
          </p:cNvPr>
          <p:cNvSpPr txBox="1"/>
          <p:nvPr/>
        </p:nvSpPr>
        <p:spPr>
          <a:xfrm>
            <a:off x="470647" y="1012994"/>
            <a:ext cx="198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inspection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77A1E-0B65-60C6-7523-CB0A6C0B60D1}"/>
              </a:ext>
            </a:extLst>
          </p:cNvPr>
          <p:cNvSpPr txBox="1"/>
          <p:nvPr/>
        </p:nvSpPr>
        <p:spPr>
          <a:xfrm>
            <a:off x="470647" y="1382326"/>
            <a:ext cx="63201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records: 535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Columns : Region, </a:t>
            </a:r>
            <a:r>
              <a:rPr lang="en-IN" sz="1600" dirty="0" err="1"/>
              <a:t>seller_city</a:t>
            </a:r>
            <a:r>
              <a:rPr lang="en-IN" sz="1600" dirty="0"/>
              <a:t>, </a:t>
            </a:r>
            <a:r>
              <a:rPr lang="en-IN" sz="1600" dirty="0" err="1"/>
              <a:t>seller_state</a:t>
            </a:r>
            <a:r>
              <a:rPr lang="en-IN" sz="1600" dirty="0"/>
              <a:t>, </a:t>
            </a:r>
            <a:r>
              <a:rPr lang="en-IN" sz="1600" dirty="0" err="1"/>
              <a:t>StoreID</a:t>
            </a:r>
            <a:endParaRPr lang="en-IN" sz="1600" dirty="0"/>
          </a:p>
          <a:p>
            <a:r>
              <a:rPr lang="en-IN" sz="1600" dirty="0"/>
              <a:t>     </a:t>
            </a:r>
            <a:r>
              <a:rPr lang="en-IN" sz="1600" u="sng" dirty="0"/>
              <a:t>Geography</a:t>
            </a:r>
            <a:r>
              <a:rPr lang="en-IN" sz="1600" dirty="0"/>
              <a:t>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cities: 534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states: 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Most stores: Andhra Pradesh → 126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Least stores: Uttaranchal → 1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B94950CC-7CAD-7D5E-2770-3C578CCCA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7" y="3527248"/>
            <a:ext cx="3340100" cy="176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874481-FCED-348B-E357-00A86A363D2E}"/>
              </a:ext>
            </a:extLst>
          </p:cNvPr>
          <p:cNvSpPr txBox="1"/>
          <p:nvPr/>
        </p:nvSpPr>
        <p:spPr>
          <a:xfrm>
            <a:off x="442851" y="3146086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339BD-B979-E042-156D-56D1C8215B74}"/>
              </a:ext>
            </a:extLst>
          </p:cNvPr>
          <p:cNvSpPr txBox="1"/>
          <p:nvPr/>
        </p:nvSpPr>
        <p:spPr>
          <a:xfrm>
            <a:off x="442851" y="529254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CBC4-D9A4-4685-69E8-9DC246AF7383}"/>
              </a:ext>
            </a:extLst>
          </p:cNvPr>
          <p:cNvSpPr txBox="1"/>
          <p:nvPr/>
        </p:nvSpPr>
        <p:spPr>
          <a:xfrm>
            <a:off x="470647" y="5644506"/>
            <a:ext cx="576068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 store IDs: ST410 occurs 2 times, ST411 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Null values: 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82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130FA-D20A-9820-EB50-75DCA831012C}"/>
              </a:ext>
            </a:extLst>
          </p:cNvPr>
          <p:cNvSpPr txBox="1"/>
          <p:nvPr/>
        </p:nvSpPr>
        <p:spPr>
          <a:xfrm>
            <a:off x="232530" y="882946"/>
            <a:ext cx="1002357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Reviewed all tables for missing, duplicate, and inconsistent records.</a:t>
            </a:r>
          </a:p>
          <a:p>
            <a:r>
              <a:rPr lang="en-IN" sz="1600" dirty="0"/>
              <a:t>Checked for data type mismatches (e.g., numeric fields stored as text).</a:t>
            </a:r>
          </a:p>
          <a:p>
            <a:r>
              <a:rPr lang="en-IN" sz="1600" dirty="0"/>
              <a:t>Validated foreign key relationships between fact and dimension tables.</a:t>
            </a:r>
          </a:p>
          <a:p>
            <a:r>
              <a:rPr lang="en-IN" sz="1600" dirty="0"/>
              <a:t>Verified that date/time formats were consistent across datasets.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96581-FBEA-2435-E5D1-EC6DC9BEF417}"/>
              </a:ext>
            </a:extLst>
          </p:cNvPr>
          <p:cNvSpPr txBox="1"/>
          <p:nvPr/>
        </p:nvSpPr>
        <p:spPr>
          <a:xfrm>
            <a:off x="4064033" y="234778"/>
            <a:ext cx="4063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Data cleaning </a:t>
            </a:r>
            <a:r>
              <a:rPr lang="en-US" sz="2800" b="1" u="sng" dirty="0" err="1"/>
              <a:t>activitys</a:t>
            </a:r>
            <a:endParaRPr lang="en-US" sz="28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7D47C-2FA6-BE90-3EC4-C2DB7A86EA43}"/>
              </a:ext>
            </a:extLst>
          </p:cNvPr>
          <p:cNvSpPr txBox="1"/>
          <p:nvPr/>
        </p:nvSpPr>
        <p:spPr>
          <a:xfrm>
            <a:off x="232530" y="1756532"/>
            <a:ext cx="69781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sz="2400" u="sng" dirty="0">
                <a:solidFill>
                  <a:srgbClr val="0070C0"/>
                </a:solidFill>
              </a:rPr>
              <a:t>Store Table Cleaning</a:t>
            </a:r>
          </a:p>
          <a:p>
            <a:endParaRPr lang="en-IN" b="1" dirty="0">
              <a:solidFill>
                <a:srgbClr val="008D9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a duplicate record for </a:t>
            </a:r>
            <a:r>
              <a:rPr lang="en-IN" sz="1600" b="1" dirty="0" err="1"/>
              <a:t>StoreID</a:t>
            </a:r>
            <a:r>
              <a:rPr lang="en-IN" sz="1600" b="1" dirty="0"/>
              <a:t>: ST410</a:t>
            </a:r>
            <a:r>
              <a:rPr lang="en-IN" sz="1600" dirty="0"/>
              <a:t> in the </a:t>
            </a:r>
            <a:r>
              <a:rPr lang="en-IN" sz="1600" i="1" dirty="0"/>
              <a:t>Stores Info</a:t>
            </a:r>
            <a:r>
              <a:rPr lang="en-IN" sz="1600" dirty="0"/>
              <a:t>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both entries for consistency — data was identical.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</a:t>
            </a:r>
            <a:r>
              <a:rPr lang="en-IN" sz="1600" dirty="0"/>
              <a:t> Dropped the duplicate record to maintain data integrity.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0744E-0FF7-9D51-3E13-3D9530C305FB}"/>
              </a:ext>
            </a:extLst>
          </p:cNvPr>
          <p:cNvSpPr txBox="1"/>
          <p:nvPr/>
        </p:nvSpPr>
        <p:spPr>
          <a:xfrm>
            <a:off x="232530" y="3616515"/>
            <a:ext cx="75968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0070C0"/>
                </a:solidFill>
              </a:rPr>
              <a:t>Product Info Table Cleaning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</a:t>
            </a:r>
            <a:r>
              <a:rPr lang="en-IN" sz="1600" b="1" dirty="0"/>
              <a:t>14 product categories</a:t>
            </a:r>
            <a:r>
              <a:rPr lang="en-IN" sz="1600" dirty="0"/>
              <a:t> in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One category was incorrectly </a:t>
            </a:r>
            <a:r>
              <a:rPr lang="en-IN" sz="1600" dirty="0" err="1"/>
              <a:t>labeled</a:t>
            </a:r>
            <a:r>
              <a:rPr lang="en-IN" sz="1600" dirty="0"/>
              <a:t> as </a:t>
            </a:r>
            <a:r>
              <a:rPr lang="en-IN" sz="1600" b="1" dirty="0"/>
              <a:t>“#N/A.”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</a:t>
            </a:r>
            <a:r>
              <a:rPr lang="en-IN" sz="1600" dirty="0"/>
              <a:t> Renamed </a:t>
            </a:r>
            <a:r>
              <a:rPr lang="en-IN" sz="1600" b="1" dirty="0"/>
              <a:t>“#N/A”</a:t>
            </a:r>
            <a:r>
              <a:rPr lang="en-IN" sz="1600" dirty="0"/>
              <a:t> category to </a:t>
            </a:r>
            <a:r>
              <a:rPr lang="en-IN" sz="1600" b="1" dirty="0"/>
              <a:t>“Others”</a:t>
            </a:r>
            <a:r>
              <a:rPr lang="en-IN" sz="1600" dirty="0"/>
              <a:t> for clarity and consistency.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5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85785-621D-BE81-2AE8-55F7EBCB8146}"/>
              </a:ext>
            </a:extLst>
          </p:cNvPr>
          <p:cNvSpPr txBox="1"/>
          <p:nvPr/>
        </p:nvSpPr>
        <p:spPr>
          <a:xfrm>
            <a:off x="249382" y="522800"/>
            <a:ext cx="615141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u="sng" dirty="0">
                <a:solidFill>
                  <a:srgbClr val="0070C0"/>
                </a:solidFill>
              </a:rPr>
              <a:t>Order Review Ratings Table Cleaning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table initially had </a:t>
            </a:r>
            <a:r>
              <a:rPr lang="en-IN" sz="1600" b="1" dirty="0"/>
              <a:t>100,000 rows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</a:t>
            </a:r>
            <a:r>
              <a:rPr lang="en-IN" sz="1600" b="1" dirty="0"/>
              <a:t>555 duplicate </a:t>
            </a:r>
            <a:r>
              <a:rPr lang="en-IN" sz="1600" b="1" dirty="0" err="1"/>
              <a:t>order_id</a:t>
            </a:r>
            <a:r>
              <a:rPr lang="en-IN" sz="1600" dirty="0"/>
              <a:t> entries with </a:t>
            </a:r>
            <a:r>
              <a:rPr lang="en-IN" sz="1600" b="1" dirty="0"/>
              <a:t>different ratings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Combined duplicates by taking the </a:t>
            </a:r>
            <a:r>
              <a:rPr lang="en-IN" sz="1600" b="1" dirty="0"/>
              <a:t>average Customer Satisfaction Score</a:t>
            </a:r>
            <a:r>
              <a:rPr lang="en-IN" sz="1600" dirty="0"/>
              <a:t> for each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contains </a:t>
            </a:r>
            <a:r>
              <a:rPr lang="en-IN" sz="1600" b="1" dirty="0"/>
              <a:t>99,441 rows</a:t>
            </a:r>
            <a:r>
              <a:rPr lang="en-IN" sz="16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BA3E4-FF8A-6AC8-1A26-21E9B939A15C}"/>
              </a:ext>
            </a:extLst>
          </p:cNvPr>
          <p:cNvSpPr txBox="1"/>
          <p:nvPr/>
        </p:nvSpPr>
        <p:spPr>
          <a:xfrm>
            <a:off x="249382" y="2934956"/>
            <a:ext cx="8937062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0070C0"/>
                </a:solidFill>
              </a:rPr>
              <a:t>Order Payment Table Cleaning</a:t>
            </a:r>
          </a:p>
          <a:p>
            <a:endParaRPr lang="en-IN" b="1" dirty="0">
              <a:solidFill>
                <a:srgbClr val="008D9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orders with </a:t>
            </a:r>
            <a:r>
              <a:rPr lang="en-IN" sz="1600" b="1" dirty="0"/>
              <a:t>split payments</a:t>
            </a:r>
            <a:r>
              <a:rPr lang="en-IN" sz="1600" dirty="0"/>
              <a:t> across multiple method</a:t>
            </a:r>
          </a:p>
          <a:p>
            <a:r>
              <a:rPr lang="en-IN" sz="1600" dirty="0"/>
              <a:t>     (e.g., part via Voucher, remaining via Credit Card, UPI/Cash, or Debit Card).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 consolidate payment data, transformed the table using a </a:t>
            </a:r>
            <a:r>
              <a:rPr lang="en-IN" sz="1600" b="1" dirty="0"/>
              <a:t>PIVOT operation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Converted </a:t>
            </a:r>
            <a:r>
              <a:rPr lang="en-IN" sz="1600" b="1" dirty="0"/>
              <a:t>payment types from rows to columns</a:t>
            </a:r>
            <a:r>
              <a:rPr lang="en-IN" sz="1600" dirty="0"/>
              <a:t> and aggregated values by </a:t>
            </a:r>
            <a:r>
              <a:rPr lang="en-IN" sz="1600" dirty="0" err="1"/>
              <a:t>order_id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Created a new table </a:t>
            </a:r>
            <a:r>
              <a:rPr lang="en-IN" sz="1600" b="1" dirty="0" err="1"/>
              <a:t>orderpayment</a:t>
            </a:r>
            <a:r>
              <a:rPr lang="en-IN" sz="1600" b="1" dirty="0"/>
              <a:t> pivot</a:t>
            </a:r>
            <a:r>
              <a:rPr lang="en-IN" sz="1600" dirty="0"/>
              <a:t> with separate columns for each payment method</a:t>
            </a:r>
          </a:p>
          <a:p>
            <a:r>
              <a:rPr lang="en-IN" sz="1600" dirty="0"/>
              <a:t>       and a calculated </a:t>
            </a:r>
            <a:r>
              <a:rPr lang="en-IN" sz="1600" b="1" dirty="0"/>
              <a:t>total payment amount</a:t>
            </a:r>
            <a:r>
              <a:rPr lang="en-IN" sz="1600" dirty="0"/>
              <a:t> per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contains </a:t>
            </a:r>
            <a:r>
              <a:rPr lang="en-IN" sz="1600" b="1" dirty="0"/>
              <a:t>99,440 total records</a:t>
            </a:r>
            <a:r>
              <a:rPr lang="en-IN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21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AADB50-DCB3-E5C6-DE37-A8DBD7BBB249}"/>
              </a:ext>
            </a:extLst>
          </p:cNvPr>
          <p:cNvSpPr txBox="1"/>
          <p:nvPr/>
        </p:nvSpPr>
        <p:spPr>
          <a:xfrm>
            <a:off x="308919" y="573702"/>
            <a:ext cx="32451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0070C0"/>
                </a:solidFill>
              </a:rPr>
              <a:t>Orders Table Cleaning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AB9D4-360F-123D-114C-B032E5ECF487}"/>
              </a:ext>
            </a:extLst>
          </p:cNvPr>
          <p:cNvSpPr txBox="1"/>
          <p:nvPr/>
        </p:nvSpPr>
        <p:spPr>
          <a:xfrm>
            <a:off x="308919" y="1096830"/>
            <a:ext cx="85185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table initially contained </a:t>
            </a:r>
            <a:r>
              <a:rPr lang="en-IN" sz="1600" b="1" dirty="0"/>
              <a:t>112,650 records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Duplicates occurred due to </a:t>
            </a:r>
            <a:r>
              <a:rPr lang="en-IN" sz="1600" b="1" dirty="0"/>
              <a:t>progressive cumulative transaction logs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</a:t>
            </a:r>
            <a:r>
              <a:rPr lang="en-IN" sz="1600" dirty="0"/>
              <a:t> Retained only the record with the </a:t>
            </a:r>
            <a:r>
              <a:rPr lang="en-IN" sz="1600" b="1" dirty="0"/>
              <a:t>highest quantity</a:t>
            </a:r>
            <a:r>
              <a:rPr lang="en-IN" sz="1600" dirty="0"/>
              <a:t> for each order–product pair.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709DA-D5D9-E18E-D7CC-7B96CB092E26}"/>
              </a:ext>
            </a:extLst>
          </p:cNvPr>
          <p:cNvSpPr txBox="1"/>
          <p:nvPr/>
        </p:nvSpPr>
        <p:spPr>
          <a:xfrm>
            <a:off x="308919" y="2062837"/>
            <a:ext cx="8792472" cy="4555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records with </a:t>
            </a:r>
            <a:r>
              <a:rPr lang="en-IN" sz="1600" b="1" dirty="0"/>
              <a:t>bill date</a:t>
            </a:r>
            <a:r>
              <a:rPr lang="en-IN" sz="1600" dirty="0"/>
              <a:t> outside the valid range (</a:t>
            </a:r>
            <a:r>
              <a:rPr lang="en-IN" sz="1600" b="1" dirty="0"/>
              <a:t>2021-09-01 to 2023-10-31</a:t>
            </a:r>
            <a:r>
              <a:rPr lang="en-IN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</a:t>
            </a:r>
            <a:r>
              <a:rPr lang="en-IN" sz="1600" dirty="0"/>
              <a:t> Removed </a:t>
            </a:r>
            <a:r>
              <a:rPr lang="en-IN" sz="1600" b="1" dirty="0"/>
              <a:t>4 rows</a:t>
            </a:r>
            <a:r>
              <a:rPr lang="en-IN" sz="1600" dirty="0"/>
              <a:t> falling outside the specified billing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Found records with multiple store id values under </a:t>
            </a:r>
            <a:r>
              <a:rPr lang="en-IN" sz="1600" b="1" dirty="0"/>
              <a:t>channel = ‘In-Store’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 </a:t>
            </a:r>
            <a:r>
              <a:rPr lang="en-IN" sz="1600" dirty="0"/>
              <a:t>replaced store with lower Total Amount by store with higher Total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</a:t>
            </a:r>
            <a:r>
              <a:rPr lang="en-IN" sz="1600" b="1" dirty="0"/>
              <a:t>order id entries</a:t>
            </a:r>
            <a:r>
              <a:rPr lang="en-IN" sz="1600" dirty="0"/>
              <a:t> with multiple </a:t>
            </a:r>
            <a:r>
              <a:rPr lang="en-IN" sz="1600" dirty="0" err="1"/>
              <a:t>bill_date</a:t>
            </a:r>
            <a:r>
              <a:rPr lang="en-IN" sz="1600" dirty="0"/>
              <a:t>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 </a:t>
            </a:r>
            <a:r>
              <a:rPr lang="en-IN" sz="1600" dirty="0"/>
              <a:t>replaced the date with first </a:t>
            </a:r>
            <a:r>
              <a:rPr lang="en-IN" sz="1600" dirty="0" err="1"/>
              <a:t>occurance</a:t>
            </a:r>
            <a:r>
              <a:rPr lang="en-IN" sz="1600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1 order which is present in orders but not in order payments.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 </a:t>
            </a:r>
            <a:r>
              <a:rPr lang="en-IN" sz="1600" dirty="0"/>
              <a:t>Deleted that record.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single order id mapped to different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: </a:t>
            </a:r>
            <a:r>
              <a:rPr lang="en-IN" sz="1600" dirty="0"/>
              <a:t>Replaced customer with lower Total Amount by customer with higher Total Amount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retained </a:t>
            </a:r>
            <a:r>
              <a:rPr lang="en-IN" sz="1600" b="1" dirty="0"/>
              <a:t>101,349 valid records</a:t>
            </a:r>
            <a:r>
              <a:rPr lang="en-IN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8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4B7F37-16DE-FF21-C387-D338BEABCC10}"/>
              </a:ext>
            </a:extLst>
          </p:cNvPr>
          <p:cNvSpPr txBox="1"/>
          <p:nvPr/>
        </p:nvSpPr>
        <p:spPr>
          <a:xfrm>
            <a:off x="327836" y="243512"/>
            <a:ext cx="11263020" cy="6370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/>
          </a:p>
          <a:p>
            <a:r>
              <a:rPr lang="en-IN" sz="2400" u="sng" dirty="0">
                <a:solidFill>
                  <a:srgbClr val="0070C0"/>
                </a:solidFill>
              </a:rPr>
              <a:t>Data Mismatch Summary — Orders vs Payments</a:t>
            </a:r>
          </a:p>
          <a:p>
            <a:endParaRPr lang="en-IN" sz="1600" dirty="0"/>
          </a:p>
          <a:p>
            <a:r>
              <a:rPr lang="en-IN" sz="1600" b="1" u="sng" dirty="0"/>
              <a:t>Objective:</a:t>
            </a:r>
            <a:endParaRPr lang="en-IN" sz="1600" u="sng" dirty="0"/>
          </a:p>
          <a:p>
            <a:r>
              <a:rPr lang="en-IN" sz="1600" dirty="0"/>
              <a:t>To validate data consistency between cleaned </a:t>
            </a:r>
            <a:r>
              <a:rPr lang="en-IN" sz="1600" b="1" dirty="0"/>
              <a:t>orders</a:t>
            </a:r>
            <a:r>
              <a:rPr lang="en-IN" sz="1600" dirty="0"/>
              <a:t> and </a:t>
            </a:r>
            <a:r>
              <a:rPr lang="en-IN" sz="1600" b="1" dirty="0"/>
              <a:t>order payment pivot </a:t>
            </a:r>
            <a:r>
              <a:rPr lang="en-IN" sz="1600" dirty="0"/>
              <a:t>tables at the order level.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u="sng" dirty="0"/>
              <a:t>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Orders Compared </a:t>
            </a:r>
            <a:r>
              <a:rPr lang="en-IN" sz="1600" b="1" dirty="0"/>
              <a:t>:</a:t>
            </a:r>
            <a:r>
              <a:rPr lang="en-IN" sz="1600" dirty="0"/>
              <a:t> 101,349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Matching Records </a:t>
            </a:r>
            <a:r>
              <a:rPr lang="en-IN" sz="1600" b="1" dirty="0"/>
              <a:t>:</a:t>
            </a:r>
            <a:r>
              <a:rPr lang="en-IN" sz="1600" dirty="0"/>
              <a:t> 95,204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Mismatched Records </a:t>
            </a:r>
            <a:r>
              <a:rPr lang="en-IN" sz="1600" b="1" dirty="0"/>
              <a:t>:</a:t>
            </a:r>
            <a:r>
              <a:rPr lang="en-IN" sz="1600" dirty="0"/>
              <a:t> 6,145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u="sng" dirty="0"/>
              <a:t>Nature of Mismatches:</a:t>
            </a:r>
            <a:endParaRPr lang="en-IN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Amount Variations — Differences between Total Amount (orders) and Total Amount (payments) for the same order id.</a:t>
            </a:r>
          </a:p>
          <a:p>
            <a:endParaRPr lang="en-IN" sz="1600" dirty="0"/>
          </a:p>
          <a:p>
            <a:r>
              <a:rPr lang="en-IN" sz="1600" b="1" u="sng" dirty="0"/>
              <a:t>Impact:</a:t>
            </a:r>
            <a:endParaRPr lang="en-IN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May affect financial reporting accuracy and revenue reconciliation.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Requires validation against source transaction logs to ensure integrity of payment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u="sng" dirty="0"/>
              <a:t>Action</a:t>
            </a:r>
            <a:r>
              <a:rPr lang="en-IN" sz="16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6145 mismatched records using Total amount comparison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Created a new audit table </a:t>
            </a:r>
            <a:r>
              <a:rPr lang="en-IN" sz="1600" b="1" dirty="0"/>
              <a:t>cleaned orders mismatch</a:t>
            </a:r>
            <a:r>
              <a:rPr lang="en-IN" sz="1600" dirty="0"/>
              <a:t> to store all mismatched entries for reference and traceability.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Preserved all columns from cleaned orders into cleaned orders mismatch.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Deleted mismatched records from </a:t>
            </a:r>
            <a:r>
              <a:rPr lang="en-IN" sz="1600" b="1" dirty="0"/>
              <a:t>cleaned orders</a:t>
            </a:r>
            <a:r>
              <a:rPr lang="en-IN" sz="1600" dirty="0"/>
              <a:t> using the same validation condition to retain only consistent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Finalized </a:t>
            </a:r>
            <a:r>
              <a:rPr lang="en-IN" sz="1600" b="1" dirty="0"/>
              <a:t>cleaned</a:t>
            </a:r>
            <a:r>
              <a:rPr lang="en-IN" sz="1600" dirty="0"/>
              <a:t> orders with </a:t>
            </a:r>
            <a:r>
              <a:rPr lang="en-IN" sz="1600" b="1" dirty="0"/>
              <a:t>Matching Records:</a:t>
            </a:r>
            <a:r>
              <a:rPr lang="en-IN" sz="1600" dirty="0"/>
              <a:t> 95,204 for further analysis.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179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5F0D17-6666-C9C1-DE9E-7DD3F1B66567}"/>
              </a:ext>
            </a:extLst>
          </p:cNvPr>
          <p:cNvSpPr txBox="1"/>
          <p:nvPr/>
        </p:nvSpPr>
        <p:spPr>
          <a:xfrm>
            <a:off x="358346" y="495466"/>
            <a:ext cx="2034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Customer360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4435C-AC85-204F-BF2D-3A38122B7530}"/>
              </a:ext>
            </a:extLst>
          </p:cNvPr>
          <p:cNvSpPr txBox="1"/>
          <p:nvPr/>
        </p:nvSpPr>
        <p:spPr>
          <a:xfrm>
            <a:off x="358347" y="957131"/>
            <a:ext cx="114753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Constructed Customer360 view by integrating order transactions, </a:t>
            </a:r>
          </a:p>
          <a:p>
            <a:r>
              <a:rPr lang="en-US" sz="1600" dirty="0"/>
              <a:t>     payments, store details, product categories, and customer satisfaction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Captured key customer demographics including City, State, and Gender to enable geographic and gender-based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Measured customer tenure using transaction dates to identify loyalty via the span between first and last purchase, </a:t>
            </a:r>
          </a:p>
          <a:p>
            <a:r>
              <a:rPr lang="en-US" sz="1600" dirty="0"/>
              <a:t>     along with recent inactivity periods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8489B-57EB-0C8C-D556-B22A4726736F}"/>
              </a:ext>
            </a:extLst>
          </p:cNvPr>
          <p:cNvSpPr txBox="1"/>
          <p:nvPr/>
        </p:nvSpPr>
        <p:spPr>
          <a:xfrm>
            <a:off x="358345" y="2557569"/>
            <a:ext cx="92471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Purchase behavior: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Frequency of orders  ( Number of distinct orders per customer).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Monetary contribution  (Total revenue generated by each customer).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Profitability insights through total calculated profit per customer.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8778D-12A3-8305-13C4-E91CD0BED19A}"/>
              </a:ext>
            </a:extLst>
          </p:cNvPr>
          <p:cNvSpPr txBox="1"/>
          <p:nvPr/>
        </p:nvSpPr>
        <p:spPr>
          <a:xfrm>
            <a:off x="358345" y="3875584"/>
            <a:ext cx="116277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shopping diversity by counting distinct products, categories, channels, stores, and cities associated</a:t>
            </a:r>
          </a:p>
          <a:p>
            <a:r>
              <a:rPr lang="en-US" sz="1600" dirty="0"/>
              <a:t>      with each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Highlighted discount and loss transactions to pinpoint customer sensitivity to discounts and potential revenue erosion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Explored payment behavior by classifying the number and type of payment transactions (Credit Card, Debit Card, Voucher, UPI/Cash) used by customers, including identifying the preferred payment method per customer based on transaction      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Aggregated customer experience metrics through the average customer satisfaction rating, providing a quality </a:t>
            </a:r>
          </a:p>
          <a:p>
            <a:r>
              <a:rPr lang="en-US" sz="1600" dirty="0"/>
              <a:t>      measure for service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022148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2D94C7-7950-2210-2793-E961499BD775}"/>
              </a:ext>
            </a:extLst>
          </p:cNvPr>
          <p:cNvSpPr txBox="1"/>
          <p:nvPr/>
        </p:nvSpPr>
        <p:spPr>
          <a:xfrm>
            <a:off x="342401" y="605483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Order360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85577-0BCE-78E8-6B19-9CA8D6D3EF58}"/>
              </a:ext>
            </a:extLst>
          </p:cNvPr>
          <p:cNvSpPr txBox="1"/>
          <p:nvPr/>
        </p:nvSpPr>
        <p:spPr>
          <a:xfrm>
            <a:off x="342401" y="1067148"/>
            <a:ext cx="1138080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Developed an Order360 dataset by consolidating order-level details, including customer, product, store,</a:t>
            </a:r>
          </a:p>
          <a:p>
            <a:r>
              <a:rPr lang="en-US" sz="1600" dirty="0"/>
              <a:t>     and transaction time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Quantified order content by counting distinct items, total quantity, and product categories per order for inventory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financial metrics such as total order amount, total discount, cost, and profit to monitor order-level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Flagged orders with loss-making status and those yielding high profit, enabling financial risk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Identified orders occurring on weekends and classified orders into time segments (morning, afternoon, evening)</a:t>
            </a:r>
          </a:p>
          <a:p>
            <a:r>
              <a:rPr lang="en-US" sz="1600" dirty="0"/>
              <a:t>     to understand purchase timing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Included channel and store identifiers along with seller location to link order performance with sales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Averaged customer satisfaction scores at the order level to assess immediate post-purchase experience.</a:t>
            </a:r>
          </a:p>
        </p:txBody>
      </p:sp>
    </p:spTree>
    <p:extLst>
      <p:ext uri="{BB962C8B-B14F-4D97-AF65-F5344CB8AC3E}">
        <p14:creationId xmlns:p14="http://schemas.microsoft.com/office/powerpoint/2010/main" val="3437323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52729-0AD4-210A-8AC9-2AE1E4310B19}"/>
              </a:ext>
            </a:extLst>
          </p:cNvPr>
          <p:cNvSpPr txBox="1"/>
          <p:nvPr/>
        </p:nvSpPr>
        <p:spPr>
          <a:xfrm>
            <a:off x="373094" y="563628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Store360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CFDC0-6065-4762-3AAD-08686631634A}"/>
              </a:ext>
            </a:extLst>
          </p:cNvPr>
          <p:cNvSpPr txBox="1"/>
          <p:nvPr/>
        </p:nvSpPr>
        <p:spPr>
          <a:xfrm>
            <a:off x="339213" y="1166842"/>
            <a:ext cx="115232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a comprehensive Store360 dataset by aggregating order data at the store level,</a:t>
            </a:r>
          </a:p>
          <a:p>
            <a:r>
              <a:rPr lang="en-US" sz="1600" dirty="0"/>
              <a:t>     incorporating sales, product, location, payment, and customer satisfaction details.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Captured store demographics including City and State to enable geographic performance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Summarized order content and sales metrics, including the number of distinct products, total quantity sold, total sales,</a:t>
            </a:r>
          </a:p>
          <a:p>
            <a:r>
              <a:rPr lang="en-US" sz="1600" dirty="0"/>
              <a:t>     total discount given, and total cost and profit generated by each store.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Flagged loss-making stores by aggregating orders with negative profit and identified stores with a significant number</a:t>
            </a:r>
          </a:p>
          <a:p>
            <a:r>
              <a:rPr lang="en-US" sz="1600" dirty="0"/>
              <a:t>     of high-profit orders for targeted business strategies.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transaction timing by counting sales on weekends versus weekdays and during different time-of-day slots</a:t>
            </a:r>
          </a:p>
          <a:p>
            <a:r>
              <a:rPr lang="en-US" sz="1600" dirty="0"/>
              <a:t>     (morning, afternoon, evening, night) to optimize store operations and marketing campaigns.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performance ratios such as average order value, average profit per transaction, average profit per customer, </a:t>
            </a:r>
          </a:p>
          <a:p>
            <a:r>
              <a:rPr lang="en-US" sz="1600" dirty="0"/>
              <a:t>     to benchmark store efficiency.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Measured customer experience via average customer satisfaction ratings aggregated at the store level.</a:t>
            </a:r>
          </a:p>
        </p:txBody>
      </p:sp>
    </p:spTree>
    <p:extLst>
      <p:ext uri="{BB962C8B-B14F-4D97-AF65-F5344CB8AC3E}">
        <p14:creationId xmlns:p14="http://schemas.microsoft.com/office/powerpoint/2010/main" val="73764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AC4FB-7B21-F550-590B-17BBFF5E5025}"/>
              </a:ext>
            </a:extLst>
          </p:cNvPr>
          <p:cNvSpPr txBox="1"/>
          <p:nvPr/>
        </p:nvSpPr>
        <p:spPr>
          <a:xfrm>
            <a:off x="4875150" y="501386"/>
            <a:ext cx="2441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/>
              <a:t>Detailed EDA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7DFC67-D320-CCE2-30BE-70310D3E6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118050"/>
              </p:ext>
            </p:extLst>
          </p:nvPr>
        </p:nvGraphicFramePr>
        <p:xfrm>
          <a:off x="641333" y="1880763"/>
          <a:ext cx="10527410" cy="3383856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5263705">
                  <a:extLst>
                    <a:ext uri="{9D8B030D-6E8A-4147-A177-3AD203B41FA5}">
                      <a16:colId xmlns:a16="http://schemas.microsoft.com/office/drawing/2014/main" val="4081402249"/>
                    </a:ext>
                  </a:extLst>
                </a:gridCol>
                <a:gridCol w="5263705">
                  <a:extLst>
                    <a:ext uri="{9D8B030D-6E8A-4147-A177-3AD203B41FA5}">
                      <a16:colId xmlns:a16="http://schemas.microsoft.com/office/drawing/2014/main" val="859164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Aggregated 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38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orders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9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95115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62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products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30893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2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stores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84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15031051.84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599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AOV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157.88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76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Revenue per 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158.03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016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Profit margin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6459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E66944-8C82-5E7F-4FA6-ABE0C44B51D6}"/>
              </a:ext>
            </a:extLst>
          </p:cNvPr>
          <p:cNvSpPr txBox="1"/>
          <p:nvPr/>
        </p:nvSpPr>
        <p:spPr>
          <a:xfrm>
            <a:off x="526633" y="1215321"/>
            <a:ext cx="3610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Some aggregated values</a:t>
            </a:r>
          </a:p>
        </p:txBody>
      </p:sp>
    </p:spTree>
    <p:extLst>
      <p:ext uri="{BB962C8B-B14F-4D97-AF65-F5344CB8AC3E}">
        <p14:creationId xmlns:p14="http://schemas.microsoft.com/office/powerpoint/2010/main" val="1332449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794E5E-65D6-A2B4-8D4F-95496B58D79C}"/>
              </a:ext>
            </a:extLst>
          </p:cNvPr>
          <p:cNvSpPr txBox="1"/>
          <p:nvPr/>
        </p:nvSpPr>
        <p:spPr>
          <a:xfrm>
            <a:off x="548639" y="705394"/>
            <a:ext cx="353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 360 EDA (1/4)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A4813-8E01-606D-0AA3-EA46071B1E07}"/>
              </a:ext>
            </a:extLst>
          </p:cNvPr>
          <p:cNvSpPr txBox="1"/>
          <p:nvPr/>
        </p:nvSpPr>
        <p:spPr>
          <a:xfrm>
            <a:off x="757646" y="1371600"/>
            <a:ext cx="689718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/>
              <a:t>Customer count per state </a:t>
            </a:r>
            <a:r>
              <a:rPr lang="en-US" sz="1400" dirty="0"/>
              <a:t>:</a:t>
            </a:r>
          </a:p>
          <a:p>
            <a:r>
              <a:rPr lang="en-US" sz="1400" dirty="0"/>
              <a:t>      </a:t>
            </a:r>
            <a:r>
              <a:rPr lang="en-US" sz="1400" b="1" dirty="0"/>
              <a:t>60 % </a:t>
            </a:r>
            <a:r>
              <a:rPr lang="en-US" sz="1400" dirty="0"/>
              <a:t>of the customers are from </a:t>
            </a:r>
            <a:r>
              <a:rPr lang="en-US" sz="1400" b="1" dirty="0"/>
              <a:t>Andhra Pradesh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Average spend per state </a:t>
            </a:r>
            <a:r>
              <a:rPr lang="en-IN" sz="1400" dirty="0"/>
              <a:t>:</a:t>
            </a:r>
          </a:p>
          <a:p>
            <a:r>
              <a:rPr lang="en-IN" sz="1400" dirty="0"/>
              <a:t>      # Highest </a:t>
            </a:r>
            <a:r>
              <a:rPr lang="en-IN" sz="1400" b="1" dirty="0"/>
              <a:t>average money spent </a:t>
            </a:r>
            <a:r>
              <a:rPr lang="en-IN" sz="1400" dirty="0"/>
              <a:t>= </a:t>
            </a:r>
            <a:r>
              <a:rPr lang="en-IN" sz="1400" b="1" dirty="0"/>
              <a:t>West Bengal </a:t>
            </a:r>
            <a:r>
              <a:rPr lang="en-IN" sz="1400" dirty="0"/>
              <a:t>(190.31) </a:t>
            </a:r>
          </a:p>
          <a:p>
            <a:r>
              <a:rPr lang="en-US" sz="1400" dirty="0"/>
              <a:t>      # Highest total revenue = AP</a:t>
            </a:r>
          </a:p>
          <a:p>
            <a:r>
              <a:rPr lang="en-US" sz="1400" dirty="0"/>
              <a:t>      # Highest avg profit = 30.7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Gender wise spending </a:t>
            </a:r>
            <a:r>
              <a:rPr lang="en-IN" sz="1400" dirty="0"/>
              <a:t>:</a:t>
            </a:r>
          </a:p>
          <a:p>
            <a:r>
              <a:rPr lang="en-IN" sz="1400" dirty="0"/>
              <a:t>      # </a:t>
            </a:r>
            <a:r>
              <a:rPr lang="en-IN" sz="1400" b="1" dirty="0"/>
              <a:t>69.84</a:t>
            </a:r>
            <a:r>
              <a:rPr lang="en-IN" sz="1400" dirty="0"/>
              <a:t> percentage of the total customers are </a:t>
            </a:r>
            <a:r>
              <a:rPr lang="en-IN" sz="1400" b="1" dirty="0"/>
              <a:t>female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spent (F)  = 158.18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spent (M) = 157.69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Average profit and discount per transaction</a:t>
            </a:r>
          </a:p>
          <a:p>
            <a:r>
              <a:rPr lang="en-IN" sz="1400" dirty="0"/>
              <a:t>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6C8F783-68DC-8614-922A-6C1547F8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48" y="3314811"/>
            <a:ext cx="4755501" cy="7184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20467-F54F-6E76-C2AA-7E53EB528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69" y="4592927"/>
            <a:ext cx="7223760" cy="7184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357D9754-EBCD-BC5B-4B50-630384376553}"/>
              </a:ext>
            </a:extLst>
          </p:cNvPr>
          <p:cNvSpPr/>
          <p:nvPr/>
        </p:nvSpPr>
        <p:spPr>
          <a:xfrm>
            <a:off x="5738186" y="3560774"/>
            <a:ext cx="715627" cy="226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9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D8108-A4B8-2464-43A0-220CCB51A4AD}"/>
              </a:ext>
            </a:extLst>
          </p:cNvPr>
          <p:cNvSpPr txBox="1"/>
          <p:nvPr/>
        </p:nvSpPr>
        <p:spPr>
          <a:xfrm>
            <a:off x="548639" y="705394"/>
            <a:ext cx="353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 360 EDA (2/4)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05D48-4DCE-6DF7-1262-FD399E40102F}"/>
              </a:ext>
            </a:extLst>
          </p:cNvPr>
          <p:cNvSpPr txBox="1"/>
          <p:nvPr/>
        </p:nvSpPr>
        <p:spPr>
          <a:xfrm>
            <a:off x="731520" y="1593669"/>
            <a:ext cx="3724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Distribution of preferred payment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2E3AC-D538-5535-3661-8C307F636580}"/>
              </a:ext>
            </a:extLst>
          </p:cNvPr>
          <p:cNvSpPr txBox="1"/>
          <p:nvPr/>
        </p:nvSpPr>
        <p:spPr>
          <a:xfrm>
            <a:off x="731520" y="3722914"/>
            <a:ext cx="28921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Payment diversity vs spending</a:t>
            </a:r>
          </a:p>
        </p:txBody>
      </p:sp>
      <p:pic>
        <p:nvPicPr>
          <p:cNvPr id="10" name="Picture 9" descr="A screenshot of a data&#10;&#10;AI-generated content may be incorrect.">
            <a:extLst>
              <a:ext uri="{FF2B5EF4-FFF2-40B4-BE49-F238E27FC236}">
                <a16:creationId xmlns:a16="http://schemas.microsoft.com/office/drawing/2014/main" id="{A000AC8F-437C-3C5D-103C-BF2985D1D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36" y="4159976"/>
            <a:ext cx="5524500" cy="13335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EEFF8E-91B9-734B-4717-C170245CC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36" y="2012224"/>
            <a:ext cx="5257800" cy="13716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6707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12195-4C54-C6CC-FFC4-27709751DDCD}"/>
              </a:ext>
            </a:extLst>
          </p:cNvPr>
          <p:cNvSpPr txBox="1"/>
          <p:nvPr/>
        </p:nvSpPr>
        <p:spPr>
          <a:xfrm>
            <a:off x="548639" y="705394"/>
            <a:ext cx="353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 360 EDA (3/4)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7F7B7-DD32-F845-38C1-7947B619242C}"/>
              </a:ext>
            </a:extLst>
          </p:cNvPr>
          <p:cNvSpPr txBox="1"/>
          <p:nvPr/>
        </p:nvSpPr>
        <p:spPr>
          <a:xfrm>
            <a:off x="718458" y="1476103"/>
            <a:ext cx="3699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Average tenure, inactivity, and frequency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B061B-EB6D-3C5E-A1FD-76FD0837E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96" y="1914978"/>
            <a:ext cx="5092700" cy="5461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E5EE5-8330-D50D-4E5D-C10CC4B2B349}"/>
              </a:ext>
            </a:extLst>
          </p:cNvPr>
          <p:cNvSpPr txBox="1"/>
          <p:nvPr/>
        </p:nvSpPr>
        <p:spPr>
          <a:xfrm>
            <a:off x="718458" y="2461078"/>
            <a:ext cx="75633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# Since most of the customers are one time buyers </a:t>
            </a:r>
            <a:r>
              <a:rPr lang="en-IN" sz="1400" dirty="0" err="1"/>
              <a:t>avg</a:t>
            </a:r>
            <a:r>
              <a:rPr lang="en-IN" sz="1400" dirty="0"/>
              <a:t> tenure days is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Weekday vs Weekend transactions</a:t>
            </a:r>
          </a:p>
          <a:p>
            <a:r>
              <a:rPr lang="en-IN" sz="1400" dirty="0"/>
              <a:t>      # Total transactions on weekday = 75157</a:t>
            </a:r>
          </a:p>
          <a:p>
            <a:r>
              <a:rPr lang="en-IN" sz="1400" dirty="0"/>
              <a:t>      # Total transactions on weekend = 19938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Hourly activity patterns</a:t>
            </a:r>
          </a:p>
          <a:p>
            <a:r>
              <a:rPr lang="en-IN" sz="1400" dirty="0"/>
              <a:t>      # Most transactions were done on Afternoon = 30729</a:t>
            </a:r>
          </a:p>
          <a:p>
            <a:r>
              <a:rPr lang="en-IN" sz="1400" dirty="0"/>
              <a:t>      # Less transactions were done on Morning = 17966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u="sng" dirty="0"/>
              <a:t>Customer segmentation (frequency segment)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# one time buyers = 95080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# moderate buyers = 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# frequent buyers =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DBF76-227A-1033-7AFF-F600DB17906E}"/>
              </a:ext>
            </a:extLst>
          </p:cNvPr>
          <p:cNvSpPr txBox="1"/>
          <p:nvPr/>
        </p:nvSpPr>
        <p:spPr>
          <a:xfrm>
            <a:off x="6525489" y="5137601"/>
            <a:ext cx="38026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One time buyer  </a:t>
            </a:r>
          </a:p>
          <a:p>
            <a:r>
              <a:rPr lang="en-US" sz="1400" dirty="0"/>
              <a:t>Moderate buyer  (no of </a:t>
            </a:r>
            <a:r>
              <a:rPr lang="en-US" sz="1400" dirty="0" err="1"/>
              <a:t>trns</a:t>
            </a:r>
            <a:r>
              <a:rPr lang="en-US" sz="1400" dirty="0"/>
              <a:t> between 2 and 7)</a:t>
            </a:r>
          </a:p>
          <a:p>
            <a:r>
              <a:rPr lang="en-US" sz="1400" dirty="0"/>
              <a:t>Frequent buyer   (no of greater than 7)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3EFA6A-DC9D-AC99-F590-32A3CC6A99BA}"/>
              </a:ext>
            </a:extLst>
          </p:cNvPr>
          <p:cNvSpPr/>
          <p:nvPr/>
        </p:nvSpPr>
        <p:spPr>
          <a:xfrm>
            <a:off x="6359236" y="4946073"/>
            <a:ext cx="4100946" cy="1108363"/>
          </a:xfrm>
          <a:prstGeom prst="roundRect">
            <a:avLst/>
          </a:prstGeom>
          <a:noFill/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2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AEDE8-66AF-B973-DE1B-DD906E0CACEC}"/>
              </a:ext>
            </a:extLst>
          </p:cNvPr>
          <p:cNvSpPr txBox="1"/>
          <p:nvPr/>
        </p:nvSpPr>
        <p:spPr>
          <a:xfrm>
            <a:off x="548639" y="705394"/>
            <a:ext cx="3623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 360 EDA (4/4)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8C2F1-7CB3-4D49-5FE8-0C88D923B468}"/>
              </a:ext>
            </a:extLst>
          </p:cNvPr>
          <p:cNvSpPr txBox="1"/>
          <p:nvPr/>
        </p:nvSpPr>
        <p:spPr>
          <a:xfrm>
            <a:off x="385949" y="1628503"/>
            <a:ext cx="39837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Customer Segmentation monetary segment</a:t>
            </a:r>
          </a:p>
          <a:p>
            <a:r>
              <a:rPr lang="en-IN" sz="1400" dirty="0"/>
              <a:t>      # 95.7 % of customers are low value.</a:t>
            </a:r>
          </a:p>
          <a:p>
            <a:r>
              <a:rPr lang="en-IN" sz="1400" dirty="0"/>
              <a:t>      # High value customers are very less.</a:t>
            </a:r>
          </a:p>
          <a:p>
            <a:r>
              <a:rPr lang="en-IN" sz="1400" dirty="0"/>
              <a:t>     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CD9525-AE1D-F9C3-C438-1D8F15666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36" y="2497954"/>
            <a:ext cx="5054600" cy="109220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161DBC-7E17-DECA-20EE-E3B4A7E9ECBF}"/>
              </a:ext>
            </a:extLst>
          </p:cNvPr>
          <p:cNvSpPr/>
          <p:nvPr/>
        </p:nvSpPr>
        <p:spPr>
          <a:xfrm>
            <a:off x="7162800" y="1594461"/>
            <a:ext cx="3320549" cy="95410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 HIGH  ( Tot amount spent &gt; 2000 )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MID ( 500 &lt; Tot amount spent &lt; 2000 )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LOW  ( Tot amount spent &lt;500 )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A1CFF-A789-007B-2236-5E2C1D3A54AF}"/>
              </a:ext>
            </a:extLst>
          </p:cNvPr>
          <p:cNvSpPr txBox="1"/>
          <p:nvPr/>
        </p:nvSpPr>
        <p:spPr>
          <a:xfrm>
            <a:off x="385949" y="3967614"/>
            <a:ext cx="6061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/>
              <a:t>Combined RFM summary</a:t>
            </a:r>
          </a:p>
          <a:p>
            <a:r>
              <a:rPr lang="en-US" sz="1400" dirty="0"/>
              <a:t>      # Majority of the customers are dormant , onetime buyers of low value.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B2CCB5-A4EC-1ADA-D27E-C9727C1DD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36" y="4554224"/>
            <a:ext cx="6378864" cy="1361132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066F20-D26A-0F9A-205F-F299D043235F}"/>
              </a:ext>
            </a:extLst>
          </p:cNvPr>
          <p:cNvSpPr/>
          <p:nvPr/>
        </p:nvSpPr>
        <p:spPr>
          <a:xfrm>
            <a:off x="8617527" y="4554224"/>
            <a:ext cx="2590774" cy="764065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4D73D-EE5F-14DA-AB72-AE552A87CBB9}"/>
              </a:ext>
            </a:extLst>
          </p:cNvPr>
          <p:cNvSpPr txBox="1"/>
          <p:nvPr/>
        </p:nvSpPr>
        <p:spPr>
          <a:xfrm>
            <a:off x="8617527" y="4579625"/>
            <a:ext cx="2590774" cy="73866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00" dirty="0"/>
              <a:t>Inactive days &lt; 30 = Recent</a:t>
            </a:r>
          </a:p>
          <a:p>
            <a:r>
              <a:rPr lang="en-US" sz="1400" dirty="0"/>
              <a:t>Inactive days &lt; 90 = Moderate</a:t>
            </a:r>
          </a:p>
          <a:p>
            <a:r>
              <a:rPr lang="en-US" sz="1400" dirty="0"/>
              <a:t>Inactive days &gt; 90 = Dormant</a:t>
            </a:r>
          </a:p>
        </p:txBody>
      </p:sp>
    </p:spTree>
    <p:extLst>
      <p:ext uri="{BB962C8B-B14F-4D97-AF65-F5344CB8AC3E}">
        <p14:creationId xmlns:p14="http://schemas.microsoft.com/office/powerpoint/2010/main" val="402603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1572F7-3F77-7AB6-4ADD-E874CCBF2493}"/>
              </a:ext>
            </a:extLst>
          </p:cNvPr>
          <p:cNvSpPr txBox="1"/>
          <p:nvPr/>
        </p:nvSpPr>
        <p:spPr>
          <a:xfrm>
            <a:off x="548639" y="705394"/>
            <a:ext cx="299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 360 EDA (1/3)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D6457-DDAF-010B-5B11-1C72C7E785C4}"/>
              </a:ext>
            </a:extLst>
          </p:cNvPr>
          <p:cNvSpPr txBox="1"/>
          <p:nvPr/>
        </p:nvSpPr>
        <p:spPr>
          <a:xfrm>
            <a:off x="385949" y="1628503"/>
            <a:ext cx="677685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Basic Summary Metrics</a:t>
            </a:r>
          </a:p>
          <a:p>
            <a:r>
              <a:rPr lang="en-IN" sz="1400" dirty="0"/>
              <a:t>      # Total orders            - 95,204</a:t>
            </a:r>
          </a:p>
          <a:p>
            <a:r>
              <a:rPr lang="en-IN" sz="1400" dirty="0"/>
              <a:t>      # Total customers     - 95,115</a:t>
            </a:r>
          </a:p>
          <a:p>
            <a:r>
              <a:rPr lang="en-IN" sz="1400" dirty="0"/>
              <a:t>      # Total quantity sold  - 1,04,658</a:t>
            </a:r>
          </a:p>
          <a:p>
            <a:r>
              <a:rPr lang="en-IN" sz="1400" dirty="0"/>
              <a:t>      # Total revenue         - 15.03 million</a:t>
            </a:r>
          </a:p>
          <a:p>
            <a:r>
              <a:rPr lang="en-IN" sz="1400" dirty="0"/>
              <a:t>      # Total profit              -  2.15 million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Average values per order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quantity per order     - 1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item per order           - 1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order amount            - 157.88 </a:t>
            </a:r>
          </a:p>
          <a:p>
            <a:r>
              <a:rPr lang="en-IN" sz="1400" dirty="0"/>
              <a:t>      # </a:t>
            </a:r>
            <a:r>
              <a:rPr lang="en-IN" sz="1400" dirty="0" err="1"/>
              <a:t>Avg</a:t>
            </a:r>
            <a:r>
              <a:rPr lang="en-IN" sz="1400" dirty="0"/>
              <a:t> order profit                - 22.55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Percentage of loss-making orders</a:t>
            </a:r>
          </a:p>
          <a:p>
            <a:r>
              <a:rPr lang="en-IN" sz="1400" dirty="0"/>
              <a:t>      # 0.36 % of orders are loss making</a:t>
            </a:r>
          </a:p>
          <a:p>
            <a:r>
              <a:rPr lang="en-IN" sz="1400" dirty="0"/>
              <a:t>      # That means 338 orders out of 95204 orders.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Weekend vs Weekday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5F518C-A2B0-33E4-5788-790A2B403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51" y="5572991"/>
            <a:ext cx="5545340" cy="70811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3125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54DBAF-50C8-1370-0D2D-1DA29F2014EB}"/>
              </a:ext>
            </a:extLst>
          </p:cNvPr>
          <p:cNvSpPr txBox="1"/>
          <p:nvPr/>
        </p:nvSpPr>
        <p:spPr>
          <a:xfrm>
            <a:off x="548639" y="705394"/>
            <a:ext cx="299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 360 EDA (2/3)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E53C9-5FF6-E56E-9105-753C7C6ED7BC}"/>
              </a:ext>
            </a:extLst>
          </p:cNvPr>
          <p:cNvSpPr txBox="1"/>
          <p:nvPr/>
        </p:nvSpPr>
        <p:spPr>
          <a:xfrm>
            <a:off x="385948" y="1628503"/>
            <a:ext cx="1134885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Order patterns by time of day</a:t>
            </a:r>
          </a:p>
          <a:p>
            <a:r>
              <a:rPr lang="en-IN" sz="1400" dirty="0"/>
              <a:t>      # </a:t>
            </a:r>
            <a:r>
              <a:rPr lang="en-IN" sz="1400" b="1" dirty="0"/>
              <a:t>Most orders </a:t>
            </a:r>
            <a:r>
              <a:rPr lang="en-IN" sz="1400" dirty="0"/>
              <a:t>were placed at </a:t>
            </a:r>
            <a:r>
              <a:rPr lang="en-IN" sz="1400" b="1" dirty="0"/>
              <a:t>afternoon</a:t>
            </a:r>
            <a:r>
              <a:rPr lang="en-IN" sz="1400" dirty="0"/>
              <a:t> which 30,752 orders, with an average order value of 163.33 </a:t>
            </a:r>
            <a:r>
              <a:rPr lang="en-IN" sz="1400" dirty="0" err="1"/>
              <a:t>rs</a:t>
            </a:r>
            <a:r>
              <a:rPr lang="en-IN" sz="1400" dirty="0"/>
              <a:t>.</a:t>
            </a:r>
          </a:p>
          <a:p>
            <a:r>
              <a:rPr lang="en-IN" sz="1400" dirty="0"/>
              <a:t>      # At evening and night almost 23,000 orders were placed . At evening with an average order value of 162.41 and at evening 141.27.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Orders by channel</a:t>
            </a:r>
          </a:p>
          <a:p>
            <a:r>
              <a:rPr lang="en-IN" sz="1400" dirty="0"/>
              <a:t>      # </a:t>
            </a:r>
            <a:r>
              <a:rPr lang="en-IN" sz="1400" b="1" dirty="0"/>
              <a:t>87.9% </a:t>
            </a:r>
            <a:r>
              <a:rPr lang="en-IN" sz="1400" dirty="0"/>
              <a:t>of orders were placed through channel </a:t>
            </a:r>
            <a:r>
              <a:rPr lang="en-IN" sz="1400" b="1" dirty="0"/>
              <a:t>Instore</a:t>
            </a:r>
            <a:r>
              <a:rPr lang="en-IN" sz="1400" dirty="0"/>
              <a:t>, with average order value of </a:t>
            </a:r>
            <a:r>
              <a:rPr lang="en-IN" sz="1400" b="1" dirty="0"/>
              <a:t>157.27.</a:t>
            </a:r>
          </a:p>
          <a:p>
            <a:r>
              <a:rPr lang="en-IN" sz="1400" b="1" dirty="0"/>
              <a:t>      </a:t>
            </a:r>
            <a:r>
              <a:rPr lang="en-IN" sz="1400" dirty="0"/>
              <a:t># Only about </a:t>
            </a:r>
            <a:r>
              <a:rPr lang="en-IN" sz="1400" b="1" dirty="0"/>
              <a:t>1.6% </a:t>
            </a:r>
            <a:r>
              <a:rPr lang="en-IN" sz="1400" dirty="0"/>
              <a:t>of orders were placed through channel </a:t>
            </a:r>
            <a:r>
              <a:rPr lang="en-IN" sz="1400" b="1" dirty="0"/>
              <a:t>Online, </a:t>
            </a:r>
            <a:r>
              <a:rPr lang="en-IN" sz="1400" dirty="0"/>
              <a:t>with an average order value of </a:t>
            </a:r>
            <a:r>
              <a:rPr lang="en-IN" sz="1400" b="1" dirty="0"/>
              <a:t>181.25</a:t>
            </a:r>
            <a:r>
              <a:rPr lang="en-IN" sz="1400" dirty="0"/>
              <a:t>.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Orders by payment type</a:t>
            </a:r>
          </a:p>
          <a:p>
            <a:r>
              <a:rPr lang="en-IN" sz="1400" dirty="0"/>
              <a:t>      # 75% of orders used credit card for the payment.</a:t>
            </a:r>
          </a:p>
          <a:p>
            <a:r>
              <a:rPr lang="en-IN" sz="1400" dirty="0"/>
              <a:t>      # 19% used UPI/Cash.</a:t>
            </a:r>
          </a:p>
          <a:p>
            <a:r>
              <a:rPr lang="en-IN" sz="1400" dirty="0"/>
              <a:t>      # 1% used debit card.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Average rating and profit relationship</a:t>
            </a:r>
          </a:p>
          <a:p>
            <a:r>
              <a:rPr lang="en-IN" sz="1400" u="sng" dirty="0"/>
              <a:t>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AC2BAE-8E2A-6355-68C2-C9FE76794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4" y="4765964"/>
            <a:ext cx="5321300" cy="1386642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04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4391D-5DBA-4FAF-DFD6-49E885CA8227}"/>
              </a:ext>
            </a:extLst>
          </p:cNvPr>
          <p:cNvSpPr txBox="1"/>
          <p:nvPr/>
        </p:nvSpPr>
        <p:spPr>
          <a:xfrm>
            <a:off x="548639" y="705394"/>
            <a:ext cx="2905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Order360 EDA (3/3)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7C5CD-E286-7D7B-80E0-78F8F1671DC7}"/>
              </a:ext>
            </a:extLst>
          </p:cNvPr>
          <p:cNvSpPr txBox="1"/>
          <p:nvPr/>
        </p:nvSpPr>
        <p:spPr>
          <a:xfrm>
            <a:off x="385948" y="1628503"/>
            <a:ext cx="11348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Channel Usage by Customer Type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080085-557A-2F74-F3EC-5362B7E69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68" y="1936280"/>
            <a:ext cx="6159500" cy="26289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4E321-0A07-95E2-5919-20BE835073B3}"/>
              </a:ext>
            </a:extLst>
          </p:cNvPr>
          <p:cNvSpPr txBox="1"/>
          <p:nvPr/>
        </p:nvSpPr>
        <p:spPr>
          <a:xfrm>
            <a:off x="385948" y="4719068"/>
            <a:ext cx="85086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Discount Usage by Customer Type</a:t>
            </a:r>
          </a:p>
          <a:p>
            <a:r>
              <a:rPr lang="en-IN" sz="1400" dirty="0"/>
              <a:t>      # 40% orders are discounted orders.</a:t>
            </a:r>
          </a:p>
          <a:p>
            <a:r>
              <a:rPr lang="en-IN" sz="1400" dirty="0"/>
              <a:t>      # 91% of the total discounted amount was availed by low value customers.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66612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CE650F-0BE9-ECCE-563F-FEA6843B0578}"/>
              </a:ext>
            </a:extLst>
          </p:cNvPr>
          <p:cNvSpPr txBox="1"/>
          <p:nvPr/>
        </p:nvSpPr>
        <p:spPr>
          <a:xfrm>
            <a:off x="548639" y="705394"/>
            <a:ext cx="2905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Order360 EDA (3/3)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F1419-6D17-510C-0486-78D6BF11ACA0}"/>
              </a:ext>
            </a:extLst>
          </p:cNvPr>
          <p:cNvSpPr txBox="1"/>
          <p:nvPr/>
        </p:nvSpPr>
        <p:spPr>
          <a:xfrm>
            <a:off x="385948" y="1628503"/>
            <a:ext cx="1180605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MoM growth</a:t>
            </a:r>
          </a:p>
          <a:p>
            <a:r>
              <a:rPr lang="en-IN" sz="1400" dirty="0"/>
              <a:t>      # </a:t>
            </a:r>
            <a:r>
              <a:rPr lang="en-IN" sz="1400" b="1" dirty="0"/>
              <a:t>Most revenue </a:t>
            </a:r>
            <a:r>
              <a:rPr lang="en-IN" sz="1400" dirty="0"/>
              <a:t>was generated on </a:t>
            </a:r>
            <a:r>
              <a:rPr lang="en-IN" sz="1400" b="1" dirty="0"/>
              <a:t>august 2023</a:t>
            </a:r>
            <a:r>
              <a:rPr lang="en-IN" sz="1400" dirty="0"/>
              <a:t>.(1.19 million)</a:t>
            </a:r>
          </a:p>
          <a:p>
            <a:r>
              <a:rPr lang="en-IN" sz="1400" dirty="0"/>
              <a:t>      # Most months show positive month-on-month growth, and the increases are much higher than the decreases. </a:t>
            </a:r>
          </a:p>
          <a:p>
            <a:r>
              <a:rPr lang="en-IN" sz="1400" dirty="0"/>
              <a:t>      # Even though there are a few dips, the overall trend points towards strong and consistent revenue growth over time.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Category wise revenue</a:t>
            </a:r>
          </a:p>
          <a:p>
            <a:r>
              <a:rPr lang="en-IN" sz="1400" dirty="0"/>
              <a:t>      # </a:t>
            </a:r>
            <a:r>
              <a:rPr lang="en-IN" sz="1400" b="1" dirty="0"/>
              <a:t>Highest revenue </a:t>
            </a:r>
            <a:r>
              <a:rPr lang="en-IN" sz="1400" dirty="0"/>
              <a:t>is generated from the category “</a:t>
            </a:r>
            <a:r>
              <a:rPr lang="en-IN" sz="1400" b="1" dirty="0"/>
              <a:t>Toys &amp; Gifts</a:t>
            </a:r>
            <a:r>
              <a:rPr lang="en-IN" sz="1400" dirty="0"/>
              <a:t>”</a:t>
            </a:r>
          </a:p>
          <a:p>
            <a:r>
              <a:rPr lang="en-IN" sz="1400" dirty="0"/>
              <a:t>      # Followed by “Home appliances”, “Food and Beverages”, “Luggage accessories” and “Baby”</a:t>
            </a:r>
          </a:p>
          <a:p>
            <a:r>
              <a:rPr lang="en-IN" sz="1400" dirty="0"/>
              <a:t>      # Least revenue is generated from category “Pet shop”, “Fashion” and “Others” (which are NA in the table so have no information about</a:t>
            </a:r>
          </a:p>
          <a:p>
            <a:r>
              <a:rPr lang="en-IN" sz="1400" dirty="0"/>
              <a:t>         what category those products are from)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83455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99D62-D36D-C01A-3B2A-E0E301025462}"/>
              </a:ext>
            </a:extLst>
          </p:cNvPr>
          <p:cNvSpPr txBox="1"/>
          <p:nvPr/>
        </p:nvSpPr>
        <p:spPr>
          <a:xfrm>
            <a:off x="548639" y="705394"/>
            <a:ext cx="2939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Store 360 EDA (1/1)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88E68-0A12-8078-8C87-359C90A21227}"/>
              </a:ext>
            </a:extLst>
          </p:cNvPr>
          <p:cNvSpPr txBox="1"/>
          <p:nvPr/>
        </p:nvSpPr>
        <p:spPr>
          <a:xfrm>
            <a:off x="385948" y="1628503"/>
            <a:ext cx="118060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High-Profit Stores</a:t>
            </a:r>
          </a:p>
          <a:p>
            <a:r>
              <a:rPr lang="en-IN" sz="1400" dirty="0"/>
              <a:t>      # Instore is the highest performing channel , and highest revenue generating store is “ST103”.</a:t>
            </a:r>
          </a:p>
          <a:p>
            <a:r>
              <a:rPr lang="en-IN" sz="1400" dirty="0"/>
              <a:t>      # Out of 37 stores 22% of the revenue is coming from store “ST103”. Which is at “</a:t>
            </a:r>
            <a:r>
              <a:rPr lang="en-IN" sz="1400" dirty="0" err="1"/>
              <a:t>akkarampalle</a:t>
            </a:r>
            <a:r>
              <a:rPr lang="en-IN" sz="1400" dirty="0"/>
              <a:t>” in Andhra Pradesh.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/>
              <a:t>Top 10 Stores by performance score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1EF2A3-B1BF-3FED-527D-8FE7456CB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23" y="2908300"/>
            <a:ext cx="7772400" cy="2757554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1D34BB-26DB-7C2C-995C-6BFB09911D6A}"/>
              </a:ext>
            </a:extLst>
          </p:cNvPr>
          <p:cNvSpPr/>
          <p:nvPr/>
        </p:nvSpPr>
        <p:spPr>
          <a:xfrm>
            <a:off x="9379526" y="3602182"/>
            <a:ext cx="2299855" cy="1357745"/>
          </a:xfrm>
          <a:prstGeom prst="roundRect">
            <a:avLst/>
          </a:prstGeom>
          <a:noFill/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27AF2-BDA1-69EC-F009-E0F1A91419A5}"/>
              </a:ext>
            </a:extLst>
          </p:cNvPr>
          <p:cNvSpPr txBox="1"/>
          <p:nvPr/>
        </p:nvSpPr>
        <p:spPr>
          <a:xfrm>
            <a:off x="9438552" y="3810021"/>
            <a:ext cx="21818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Performance score</a:t>
            </a:r>
          </a:p>
          <a:p>
            <a:r>
              <a:rPr lang="en-IN" sz="1400" dirty="0"/>
              <a:t>SUM(Amount)*0.5 + SUM(Total profit)*0.3 + AVG(Average rating)*0.2</a:t>
            </a:r>
          </a:p>
        </p:txBody>
      </p:sp>
    </p:spTree>
    <p:extLst>
      <p:ext uri="{BB962C8B-B14F-4D97-AF65-F5344CB8AC3E}">
        <p14:creationId xmlns:p14="http://schemas.microsoft.com/office/powerpoint/2010/main" val="3439924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D95D2-827F-A9AD-0109-D471B915D3CA}"/>
              </a:ext>
            </a:extLst>
          </p:cNvPr>
          <p:cNvSpPr txBox="1"/>
          <p:nvPr/>
        </p:nvSpPr>
        <p:spPr>
          <a:xfrm>
            <a:off x="2340453" y="111211"/>
            <a:ext cx="751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/>
              <a:t>Detailed List of Exploratory Data Analysis (Descriptive &amp; Diagnostic)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76B36-0074-7F36-CC51-BCE2C91D3A68}"/>
              </a:ext>
            </a:extLst>
          </p:cNvPr>
          <p:cNvSpPr txBox="1"/>
          <p:nvPr/>
        </p:nvSpPr>
        <p:spPr>
          <a:xfrm>
            <a:off x="345989" y="1235675"/>
            <a:ext cx="48015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>
                <a:solidFill>
                  <a:srgbClr val="0070C0"/>
                </a:solidFill>
              </a:rPr>
              <a:t>Customer360</a:t>
            </a:r>
          </a:p>
          <a:p>
            <a:pPr marL="514350" indent="-514350">
              <a:buFont typeface="+mj-lt"/>
              <a:buAutoNum type="romanUcPeriod"/>
            </a:pPr>
            <a:endParaRPr lang="en-IN" sz="2000" u="sng" dirty="0"/>
          </a:p>
          <a:p>
            <a:r>
              <a:rPr lang="en-IN" sz="2000" u="sng" dirty="0"/>
              <a:t>Descriptive Analysis (What happened?)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FC48C-1DC4-AE5B-17FE-C8860FC9B4D8}"/>
              </a:ext>
            </a:extLst>
          </p:cNvPr>
          <p:cNvSpPr txBox="1"/>
          <p:nvPr/>
        </p:nvSpPr>
        <p:spPr>
          <a:xfrm>
            <a:off x="350164" y="2312893"/>
            <a:ext cx="441967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u="sng" dirty="0"/>
              <a:t>KPI</a:t>
            </a:r>
            <a:r>
              <a:rPr lang="en-IN" sz="1600" u="sng" dirty="0"/>
              <a:t>’s /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number of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profit per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customer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% of discounted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customer spent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Preferred payment method</a:t>
            </a:r>
          </a:p>
          <a:p>
            <a:endParaRPr lang="en-IN" sz="1600" u="sng" dirty="0"/>
          </a:p>
          <a:p>
            <a:r>
              <a:rPr lang="en-IN" sz="1600" b="1" u="sng" dirty="0"/>
              <a:t>KRA</a:t>
            </a:r>
            <a:r>
              <a:rPr lang="en-IN" sz="1600" u="sng" dirty="0"/>
              <a:t>’s (accountability)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 ARPU (average revenue per user)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Raise repeat purchase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 no of transactions with loss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406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37D4C-C748-6F8A-BF96-38B47300D94D}"/>
              </a:ext>
            </a:extLst>
          </p:cNvPr>
          <p:cNvSpPr txBox="1"/>
          <p:nvPr/>
        </p:nvSpPr>
        <p:spPr>
          <a:xfrm>
            <a:off x="383058" y="954211"/>
            <a:ext cx="82776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KRI</a:t>
            </a:r>
            <a:r>
              <a:rPr lang="en-IN" sz="1600" u="sng" dirty="0"/>
              <a:t>’s (risks to monitor)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Rising proportion of transactions with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Decrease in average customer rating below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Increased discount dependency (total discount / total amount spent)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6F4E8-B174-F8FF-1018-2C35A26CD5F6}"/>
              </a:ext>
            </a:extLst>
          </p:cNvPr>
          <p:cNvSpPr txBox="1"/>
          <p:nvPr/>
        </p:nvSpPr>
        <p:spPr>
          <a:xfrm>
            <a:off x="383058" y="2308428"/>
            <a:ext cx="87856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Descriptive analyses </a:t>
            </a:r>
            <a:r>
              <a:rPr lang="en-IN" sz="1600" u="sng" dirty="0"/>
              <a:t>(what to show and how)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Distribution plots                               : total amount spent, no of transactions, total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Bar / map                                          : spend &amp; profit by city/state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Payment method pie /stacked bar    : preferred payment method by city/gender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Boxplots                                            : total amount spent by gender / rating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RFM table &amp; segments                     : Top customers, at-risk customers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216B90-AFD4-C7A7-3535-EEC981DBA44E}"/>
              </a:ext>
            </a:extLst>
          </p:cNvPr>
          <p:cNvSpPr txBox="1"/>
          <p:nvPr/>
        </p:nvSpPr>
        <p:spPr>
          <a:xfrm>
            <a:off x="383058" y="3904836"/>
            <a:ext cx="104043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Diagnostic analyses </a:t>
            </a:r>
            <a:r>
              <a:rPr lang="en-IN" sz="1600" u="sng" dirty="0"/>
              <a:t>(why things happened)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Correlation  : Total amount spent vs no of distinct categories purchased vs no of channel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Segmentation  : CLTV segments and their average discount usage / return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Cohort analysis  : retention curves by channel /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Causal checks  : did voucher campaigns increase spend but reduce profit margin? (compare matched cohorts)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Customers with high voucher use &amp; low profit → flag for costly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Customers with many transactions with loss → investigate returns/refunds</a:t>
            </a:r>
          </a:p>
        </p:txBody>
      </p:sp>
    </p:spTree>
    <p:extLst>
      <p:ext uri="{BB962C8B-B14F-4D97-AF65-F5344CB8AC3E}">
        <p14:creationId xmlns:p14="http://schemas.microsoft.com/office/powerpoint/2010/main" val="2549244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6D5AED-0E56-1BE1-1AA0-8D4AC149A3EC}"/>
              </a:ext>
            </a:extLst>
          </p:cNvPr>
          <p:cNvSpPr txBox="1"/>
          <p:nvPr/>
        </p:nvSpPr>
        <p:spPr>
          <a:xfrm>
            <a:off x="494270" y="803874"/>
            <a:ext cx="2063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u="sng" dirty="0">
                <a:solidFill>
                  <a:srgbClr val="0070C0"/>
                </a:solidFill>
              </a:rPr>
              <a:t>Store360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3E50E-4FDF-455E-A363-C0943DECD10C}"/>
              </a:ext>
            </a:extLst>
          </p:cNvPr>
          <p:cNvSpPr txBox="1"/>
          <p:nvPr/>
        </p:nvSpPr>
        <p:spPr>
          <a:xfrm>
            <a:off x="494267" y="1265539"/>
            <a:ext cx="97494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revenue through channel instore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Best performing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Order Value (AOV) = Average order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profit per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City wise store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rating per 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24068A-BA6A-7BBA-BFE4-6E06333AE6C5}"/>
              </a:ext>
            </a:extLst>
          </p:cNvPr>
          <p:cNvSpPr txBox="1"/>
          <p:nvPr/>
        </p:nvSpPr>
        <p:spPr>
          <a:xfrm>
            <a:off x="494268" y="3081421"/>
            <a:ext cx="61536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KRAs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 store-level gross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Average rating per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 stockouts / increase distinct categories coverage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B55E7-4A15-FE2D-C821-CD9AEED41148}"/>
              </a:ext>
            </a:extLst>
          </p:cNvPr>
          <p:cNvSpPr txBox="1"/>
          <p:nvPr/>
        </p:nvSpPr>
        <p:spPr>
          <a:xfrm>
            <a:off x="494267" y="4158639"/>
            <a:ext cx="61536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KRIs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Discount / Low Profit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Sudden drop in Weekend sales or Average customer visits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variance in Average profit per transaction</a:t>
            </a:r>
          </a:p>
        </p:txBody>
      </p:sp>
    </p:spTree>
    <p:extLst>
      <p:ext uri="{BB962C8B-B14F-4D97-AF65-F5344CB8AC3E}">
        <p14:creationId xmlns:p14="http://schemas.microsoft.com/office/powerpoint/2010/main" val="3309375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FECA95-4013-9A31-06B9-1D4203396D14}"/>
              </a:ext>
            </a:extLst>
          </p:cNvPr>
          <p:cNvSpPr txBox="1"/>
          <p:nvPr/>
        </p:nvSpPr>
        <p:spPr>
          <a:xfrm>
            <a:off x="345990" y="1060273"/>
            <a:ext cx="94529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Descriptive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Store ranking : revenue, profit, AOV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Heatmap / map : store profit by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Time-series  : store-level weekly sales &amp; profit (weekend vs weekday)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Distribution plot : Distinct categories across stores (to spot narrow assortments)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3EEF8-CB87-B85D-62D2-F7628A8C32D7}"/>
              </a:ext>
            </a:extLst>
          </p:cNvPr>
          <p:cNvSpPr txBox="1"/>
          <p:nvPr/>
        </p:nvSpPr>
        <p:spPr>
          <a:xfrm>
            <a:off x="345989" y="2383712"/>
            <a:ext cx="98854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Diagnostic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Root-cause for Flag loss making: high discount, low traffic, poor category mix, high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Basket analysis: which categories increase AOV / profit?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Promotion lift: compare store sales before/during/after promotions using difference-in-differences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Inventory &amp; SKU-level check: No of items vs Qty sold → identify dead stock</a:t>
            </a:r>
          </a:p>
        </p:txBody>
      </p:sp>
    </p:spTree>
    <p:extLst>
      <p:ext uri="{BB962C8B-B14F-4D97-AF65-F5344CB8AC3E}">
        <p14:creationId xmlns:p14="http://schemas.microsoft.com/office/powerpoint/2010/main" val="1756641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22DFD-F07B-40AD-69C1-B3CC5EC0DFBF}"/>
              </a:ext>
            </a:extLst>
          </p:cNvPr>
          <p:cNvSpPr txBox="1"/>
          <p:nvPr/>
        </p:nvSpPr>
        <p:spPr>
          <a:xfrm>
            <a:off x="432486" y="667949"/>
            <a:ext cx="2248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u="sng" dirty="0">
                <a:solidFill>
                  <a:srgbClr val="0070C0"/>
                </a:solidFill>
              </a:rPr>
              <a:t>Orders360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B3E64-8406-5041-D4B3-BE816B10A9DC}"/>
              </a:ext>
            </a:extLst>
          </p:cNvPr>
          <p:cNvSpPr txBox="1"/>
          <p:nvPr/>
        </p:nvSpPr>
        <p:spPr>
          <a:xfrm>
            <a:off x="432486" y="1248199"/>
            <a:ext cx="88474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AOV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Order Profit Margin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Average quantity per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D61E2-C869-9485-C797-32D916F1BE9A}"/>
              </a:ext>
            </a:extLst>
          </p:cNvPr>
          <p:cNvSpPr txBox="1"/>
          <p:nvPr/>
        </p:nvSpPr>
        <p:spPr>
          <a:xfrm>
            <a:off x="432486" y="2571638"/>
            <a:ext cx="61536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KRAs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 %loss-making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 share of high-profit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order rating (</a:t>
            </a:r>
            <a:r>
              <a:rPr lang="en-IN" sz="1600" dirty="0" err="1"/>
              <a:t>avg</a:t>
            </a:r>
            <a:r>
              <a:rPr lang="en-IN" sz="1600" dirty="0"/>
              <a:t> rating)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95C2F-775E-4D40-62B6-879B7FCD4761}"/>
              </a:ext>
            </a:extLst>
          </p:cNvPr>
          <p:cNvSpPr txBox="1"/>
          <p:nvPr/>
        </p:nvSpPr>
        <p:spPr>
          <a:xfrm>
            <a:off x="432486" y="3648856"/>
            <a:ext cx="107009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KRIs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Increased rate of items with discount correlated with negative profit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Spike in loss-making orders during specific hours (hours flag)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A9E15-0CDE-BC9E-FB2F-B613A21D89F0}"/>
              </a:ext>
            </a:extLst>
          </p:cNvPr>
          <p:cNvSpPr txBox="1"/>
          <p:nvPr/>
        </p:nvSpPr>
        <p:spPr>
          <a:xfrm>
            <a:off x="432485" y="4510630"/>
            <a:ext cx="103302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Descriptive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Time-of-day / day-of-week heatmap: volume and profit by hours flag &amp; weekend trans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Channel performance: orders, AOV, margin by Channel &amp; payment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Order-level scatter: qty vs total profit to identify anomalies</a:t>
            </a:r>
          </a:p>
        </p:txBody>
      </p:sp>
    </p:spTree>
    <p:extLst>
      <p:ext uri="{BB962C8B-B14F-4D97-AF65-F5344CB8AC3E}">
        <p14:creationId xmlns:p14="http://schemas.microsoft.com/office/powerpoint/2010/main" val="320756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50687C-B568-1AD3-6B11-F586591DC4A1}"/>
              </a:ext>
            </a:extLst>
          </p:cNvPr>
          <p:cNvSpPr txBox="1"/>
          <p:nvPr/>
        </p:nvSpPr>
        <p:spPr>
          <a:xfrm>
            <a:off x="444842" y="800781"/>
            <a:ext cx="100089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Diagnostic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Why orders loss-making : high discount, high returns, wrong pricing, cost miscalculation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High-profit order drivers : distinct categories, payment type, channel, store_ 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Anomaly detection : outlier orders with negative profit or abnormally high discount — root cause investigation</a:t>
            </a:r>
          </a:p>
        </p:txBody>
      </p:sp>
    </p:spTree>
    <p:extLst>
      <p:ext uri="{BB962C8B-B14F-4D97-AF65-F5344CB8AC3E}">
        <p14:creationId xmlns:p14="http://schemas.microsoft.com/office/powerpoint/2010/main" val="4071870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AF303-6C3B-AC36-8239-DB74EA603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8856"/>
              </p:ext>
            </p:extLst>
          </p:nvPr>
        </p:nvGraphicFramePr>
        <p:xfrm>
          <a:off x="548639" y="1318830"/>
          <a:ext cx="11393979" cy="49307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4462">
                  <a:extLst>
                    <a:ext uri="{9D8B030D-6E8A-4147-A177-3AD203B41FA5}">
                      <a16:colId xmlns:a16="http://schemas.microsoft.com/office/drawing/2014/main" val="640868701"/>
                    </a:ext>
                  </a:extLst>
                </a:gridCol>
                <a:gridCol w="2234462">
                  <a:extLst>
                    <a:ext uri="{9D8B030D-6E8A-4147-A177-3AD203B41FA5}">
                      <a16:colId xmlns:a16="http://schemas.microsoft.com/office/drawing/2014/main" val="1080779858"/>
                    </a:ext>
                  </a:extLst>
                </a:gridCol>
                <a:gridCol w="1674550">
                  <a:extLst>
                    <a:ext uri="{9D8B030D-6E8A-4147-A177-3AD203B41FA5}">
                      <a16:colId xmlns:a16="http://schemas.microsoft.com/office/drawing/2014/main" val="2683298343"/>
                    </a:ext>
                  </a:extLst>
                </a:gridCol>
                <a:gridCol w="1412796">
                  <a:extLst>
                    <a:ext uri="{9D8B030D-6E8A-4147-A177-3AD203B41FA5}">
                      <a16:colId xmlns:a16="http://schemas.microsoft.com/office/drawing/2014/main" val="3813304266"/>
                    </a:ext>
                  </a:extLst>
                </a:gridCol>
                <a:gridCol w="3837709">
                  <a:extLst>
                    <a:ext uri="{9D8B030D-6E8A-4147-A177-3AD203B41FA5}">
                      <a16:colId xmlns:a16="http://schemas.microsoft.com/office/drawing/2014/main" val="3932375240"/>
                    </a:ext>
                  </a:extLst>
                </a:gridCol>
              </a:tblGrid>
              <a:tr h="503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KPI / Metric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Calculation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Visualization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7856676"/>
                  </a:ext>
                </a:extLst>
              </a:tr>
              <a:tr h="705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Total Customers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COUNT(DISTINCT Custid)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Custid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KPI Card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95,115 total customers identified.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56013"/>
                  </a:ext>
                </a:extLst>
              </a:tr>
              <a:tr h="744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Total Sales (Revenue)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SUM(Total_Amount)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Total_Amount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KPI Card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Total revenue generated is ₹15.03 million.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5529087"/>
                  </a:ext>
                </a:extLst>
              </a:tr>
              <a:tr h="520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Average Order Value (AOV)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Total Amount / Total Orders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Total Amount, order id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Bar Chart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Average order value is ₹157.88.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6711956"/>
                  </a:ext>
                </a:extLst>
              </a:tr>
              <a:tr h="520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Total Profit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SUM(total profit)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total profit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KPI Card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₹2.15 million total profit recorded.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321092"/>
                  </a:ext>
                </a:extLst>
              </a:tr>
              <a:tr h="968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Gender-wise Spending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AVG(Total Amount) BY Gender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Gender, Total Amount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Bar Chart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Females (69.84%) spend slightly more (₹158.18) than males (₹157.69).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6656298"/>
                  </a:ext>
                </a:extLst>
              </a:tr>
              <a:tr h="96835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State-wise Spending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AVG(Total_Amount) BY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Customer state, Total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Map / Bar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Highest average spend: West Bengal (₹190.31); highest total revenue: Andhra Pradesh.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545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B7E40A-81AC-2D61-6881-27492C49C8CA}"/>
              </a:ext>
            </a:extLst>
          </p:cNvPr>
          <p:cNvSpPr txBox="1"/>
          <p:nvPr/>
        </p:nvSpPr>
        <p:spPr>
          <a:xfrm>
            <a:off x="548639" y="705394"/>
            <a:ext cx="4327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Descriptive Analysis Summary</a:t>
            </a:r>
          </a:p>
        </p:txBody>
      </p:sp>
    </p:spTree>
    <p:extLst>
      <p:ext uri="{BB962C8B-B14F-4D97-AF65-F5344CB8AC3E}">
        <p14:creationId xmlns:p14="http://schemas.microsoft.com/office/powerpoint/2010/main" val="586616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F4855-AB9B-F4B5-9719-4E87F71A0BEE}"/>
              </a:ext>
            </a:extLst>
          </p:cNvPr>
          <p:cNvSpPr txBox="1"/>
          <p:nvPr/>
        </p:nvSpPr>
        <p:spPr>
          <a:xfrm>
            <a:off x="548639" y="705394"/>
            <a:ext cx="4327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Descriptive Analysis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4E43C7-8724-56AD-56E8-506AF2F5E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576571"/>
              </p:ext>
            </p:extLst>
          </p:nvPr>
        </p:nvGraphicFramePr>
        <p:xfrm>
          <a:off x="540326" y="1287701"/>
          <a:ext cx="11374585" cy="49119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4917">
                  <a:extLst>
                    <a:ext uri="{9D8B030D-6E8A-4147-A177-3AD203B41FA5}">
                      <a16:colId xmlns:a16="http://schemas.microsoft.com/office/drawing/2014/main" val="3333205310"/>
                    </a:ext>
                  </a:extLst>
                </a:gridCol>
                <a:gridCol w="2615739">
                  <a:extLst>
                    <a:ext uri="{9D8B030D-6E8A-4147-A177-3AD203B41FA5}">
                      <a16:colId xmlns:a16="http://schemas.microsoft.com/office/drawing/2014/main" val="2123698196"/>
                    </a:ext>
                  </a:extLst>
                </a:gridCol>
                <a:gridCol w="1934095">
                  <a:extLst>
                    <a:ext uri="{9D8B030D-6E8A-4147-A177-3AD203B41FA5}">
                      <a16:colId xmlns:a16="http://schemas.microsoft.com/office/drawing/2014/main" val="896070037"/>
                    </a:ext>
                  </a:extLst>
                </a:gridCol>
                <a:gridCol w="1349432">
                  <a:extLst>
                    <a:ext uri="{9D8B030D-6E8A-4147-A177-3AD203B41FA5}">
                      <a16:colId xmlns:a16="http://schemas.microsoft.com/office/drawing/2014/main" val="2142781130"/>
                    </a:ext>
                  </a:extLst>
                </a:gridCol>
                <a:gridCol w="3200402">
                  <a:extLst>
                    <a:ext uri="{9D8B030D-6E8A-4147-A177-3AD203B41FA5}">
                      <a16:colId xmlns:a16="http://schemas.microsoft.com/office/drawing/2014/main" val="477196269"/>
                    </a:ext>
                  </a:extLst>
                </a:gridCol>
              </a:tblGrid>
              <a:tr h="616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KPI / Metric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Calculation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Variables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>
                          <a:solidFill>
                            <a:schemeClr val="tx1"/>
                          </a:solidFill>
                        </a:rPr>
                        <a:t>Visualization</a:t>
                      </a:r>
                      <a:endParaRPr lang="en-IN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087116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Payment Method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COUNT(preferred payment method) BY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Preferred payment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Pie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Credit Card: 75%, UPI/Cash: 19%, Debit Card: 1%.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607970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 Volume by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COUNT(order id) BY 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Channel, order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Bar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87.9% of orders placed In-store; only 1.6% online.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213002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Customer Segmentation (RFM)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Frequency, Monetary, Recency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Inactive days, no of transactions, total amount spent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Majority are one-time, low-value, dormant customers.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883431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MoM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% change in monthly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 date, total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Line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Mostly positive growth with strong performance in Aug 2023.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615912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Top Categories by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SUM(Amount) BY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Category, Total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Bar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Top: Toys &amp; Gifts, Home Appliances, Food &amp; Beverages.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661394"/>
                  </a:ext>
                </a:extLst>
              </a:tr>
              <a:tr h="70800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Top Performing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SUM(Amount)*0.5 + SUM(Profit)*0.3 + AVG(Rating)*0.2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 ID, Amount, Profit, 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KPI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 ST103 (</a:t>
                      </a:r>
                      <a:r>
                        <a:rPr lang="en-IN" sz="1400" b="0" i="0" u="none" strike="noStrike" kern="1200" cap="none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Akkarampalle</a:t>
                      </a: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) generates 22% of total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83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045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A3AE6-B307-7C02-E8AF-94DFB8B92437}"/>
              </a:ext>
            </a:extLst>
          </p:cNvPr>
          <p:cNvSpPr txBox="1"/>
          <p:nvPr/>
        </p:nvSpPr>
        <p:spPr>
          <a:xfrm>
            <a:off x="548639" y="705394"/>
            <a:ext cx="424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Diagnostic Analysis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66ED7-CA11-4167-DE86-F6E1DF412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94107"/>
              </p:ext>
            </p:extLst>
          </p:nvPr>
        </p:nvGraphicFramePr>
        <p:xfrm>
          <a:off x="559967" y="1301556"/>
          <a:ext cx="11188688" cy="48510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97172">
                  <a:extLst>
                    <a:ext uri="{9D8B030D-6E8A-4147-A177-3AD203B41FA5}">
                      <a16:colId xmlns:a16="http://schemas.microsoft.com/office/drawing/2014/main" val="3855776373"/>
                    </a:ext>
                  </a:extLst>
                </a:gridCol>
                <a:gridCol w="2489479">
                  <a:extLst>
                    <a:ext uri="{9D8B030D-6E8A-4147-A177-3AD203B41FA5}">
                      <a16:colId xmlns:a16="http://schemas.microsoft.com/office/drawing/2014/main" val="293856668"/>
                    </a:ext>
                  </a:extLst>
                </a:gridCol>
                <a:gridCol w="2341418">
                  <a:extLst>
                    <a:ext uri="{9D8B030D-6E8A-4147-A177-3AD203B41FA5}">
                      <a16:colId xmlns:a16="http://schemas.microsoft.com/office/drawing/2014/main" val="1879838350"/>
                    </a:ext>
                  </a:extLst>
                </a:gridCol>
                <a:gridCol w="3560619">
                  <a:extLst>
                    <a:ext uri="{9D8B030D-6E8A-4147-A177-3AD203B41FA5}">
                      <a16:colId xmlns:a16="http://schemas.microsoft.com/office/drawing/2014/main" val="257205610"/>
                    </a:ext>
                  </a:extLst>
                </a:gridCol>
              </a:tblGrid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Diagnostic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Method /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Observation / 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606881"/>
                  </a:ext>
                </a:extLst>
              </a:tr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High Revenue from Toys &amp; Gifts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Category-level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Category, Total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Toys &amp; Gifts show the highest sales volume and AOV; likely due to seasonal or gifting trends.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664586"/>
                  </a:ext>
                </a:extLst>
              </a:tr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Low-Value Customers Availing Most Discounts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Segmentation by Discount vs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Discount, total amount spent, items with 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91% of total discounts used by low-value customers — indicates over-discounting to low spenders.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816775"/>
                  </a:ext>
                </a:extLst>
              </a:tr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Loss-Making Orders (0.36%)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Flag &amp; Profit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Flag loss making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Only 338 orders are loss-making, due to cost per unit same as </a:t>
                      </a:r>
                      <a:r>
                        <a:rPr lang="en-IN" sz="1400" b="0" i="0" u="none" strike="noStrike" kern="1200" cap="none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mrp</a:t>
                      </a: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637892"/>
                  </a:ext>
                </a:extLst>
              </a:tr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Gender Spending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Comparative Mean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Gender, Total amount spent , total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Female customers spend slightly more overall — may be due to category preferences.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380159"/>
                  </a:ext>
                </a:extLst>
              </a:tr>
              <a:tr h="808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Weekend vs Weekday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Temporal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Weekend_Flag</a:t>
                      </a: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75,157 weekday vs 19,938 weekend transactions; weekday dominance suggests marketing gap on weekends.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032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48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71B20-9645-20B8-F2A8-6F5B6056C4AB}"/>
              </a:ext>
            </a:extLst>
          </p:cNvPr>
          <p:cNvSpPr txBox="1"/>
          <p:nvPr/>
        </p:nvSpPr>
        <p:spPr>
          <a:xfrm>
            <a:off x="548639" y="705394"/>
            <a:ext cx="424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Diagnostic Analysis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B8193D-FAD9-C74C-3CA2-EB59D5695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12052"/>
              </p:ext>
            </p:extLst>
          </p:nvPr>
        </p:nvGraphicFramePr>
        <p:xfrm>
          <a:off x="548639" y="1329266"/>
          <a:ext cx="11158452" cy="48798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0088">
                  <a:extLst>
                    <a:ext uri="{9D8B030D-6E8A-4147-A177-3AD203B41FA5}">
                      <a16:colId xmlns:a16="http://schemas.microsoft.com/office/drawing/2014/main" val="908143438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1963629547"/>
                    </a:ext>
                  </a:extLst>
                </a:gridCol>
                <a:gridCol w="2604655">
                  <a:extLst>
                    <a:ext uri="{9D8B030D-6E8A-4147-A177-3AD203B41FA5}">
                      <a16:colId xmlns:a16="http://schemas.microsoft.com/office/drawing/2014/main" val="1089804715"/>
                    </a:ext>
                  </a:extLst>
                </a:gridCol>
                <a:gridCol w="3131127">
                  <a:extLst>
                    <a:ext uri="{9D8B030D-6E8A-4147-A177-3AD203B41FA5}">
                      <a16:colId xmlns:a16="http://schemas.microsoft.com/office/drawing/2014/main" val="4063585903"/>
                    </a:ext>
                  </a:extLst>
                </a:gridCol>
              </a:tblGrid>
              <a:tr h="671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Diagnostic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Method /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Observation / 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3124"/>
                  </a:ext>
                </a:extLst>
              </a:tr>
              <a:tr h="67131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Time-of-Day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Hourly Activity 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Hours_Flag,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Afternoon shows the highest transaction volume (30,729 orders).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491609"/>
                  </a:ext>
                </a:extLst>
              </a:tr>
              <a:tr h="67131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Channel Profitability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Channel-wise Margin 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Channel,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Online orders have higher AOV (₹181.25) vs In-store (₹157.27).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740947"/>
                  </a:ext>
                </a:extLst>
              </a:tr>
              <a:tr h="7126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 Dependency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Store-level Revenue 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Store_ID,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 ST103 generates 22% of revenue — high dependency risk if performance drops.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031372"/>
                  </a:ext>
                </a:extLst>
              </a:tr>
              <a:tr h="7126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Category-Level Revenue Variation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Revenue Comparison by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Category,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Pet Shop, Fashion, and Others categories underperform significantly — potential optimization areas.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338351"/>
                  </a:ext>
                </a:extLst>
              </a:tr>
              <a:tr h="67131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Customer Churn Indicators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Tenure and Inactivity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Inactive_Days,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95% customers are one-time buyers — very high churn risk.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1247757"/>
                  </a:ext>
                </a:extLst>
              </a:tr>
              <a:tr h="712693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Profit vs Rating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Correlation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Profit, Customer_Satisfaction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Weak positive relationship — satisfied customers tend to contribute slightly higher profits.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128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928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ED0EA5-0B02-D125-2362-9F5648B92AF3}"/>
              </a:ext>
            </a:extLst>
          </p:cNvPr>
          <p:cNvSpPr txBox="1"/>
          <p:nvPr/>
        </p:nvSpPr>
        <p:spPr>
          <a:xfrm>
            <a:off x="462051" y="634177"/>
            <a:ext cx="4483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Customer360 dashboard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0636-161B-AF98-AF49-51C43CC13AA8}"/>
              </a:ext>
            </a:extLst>
          </p:cNvPr>
          <p:cNvSpPr txBox="1"/>
          <p:nvPr/>
        </p:nvSpPr>
        <p:spPr>
          <a:xfrm>
            <a:off x="462051" y="1095842"/>
            <a:ext cx="93934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/>
              <a:t>Objective</a:t>
            </a:r>
          </a:p>
          <a:p>
            <a:r>
              <a:rPr lang="en-IN" sz="1400" dirty="0"/>
              <a:t>Understand who our customers are, how they interact with us, and what actions can improve satisfaction and loyalty.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CF180-3A5B-7D31-4734-DB8D730051E1}"/>
              </a:ext>
            </a:extLst>
          </p:cNvPr>
          <p:cNvSpPr txBox="1"/>
          <p:nvPr/>
        </p:nvSpPr>
        <p:spPr>
          <a:xfrm>
            <a:off x="713514" y="3547305"/>
            <a:ext cx="182068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Date range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Region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Channel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Payment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 </a:t>
            </a:r>
          </a:p>
          <a:p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00F2E7-5425-7FC8-572D-3D60BE6854B7}"/>
              </a:ext>
            </a:extLst>
          </p:cNvPr>
          <p:cNvSpPr/>
          <p:nvPr/>
        </p:nvSpPr>
        <p:spPr>
          <a:xfrm>
            <a:off x="543697" y="1794139"/>
            <a:ext cx="10136777" cy="44413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3E835-613B-B0CE-48D5-B05E35053A30}"/>
              </a:ext>
            </a:extLst>
          </p:cNvPr>
          <p:cNvSpPr/>
          <p:nvPr/>
        </p:nvSpPr>
        <p:spPr>
          <a:xfrm>
            <a:off x="543697" y="1794139"/>
            <a:ext cx="2160314" cy="4770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07ACB6-B632-F7EA-2EFB-F6735B6D7261}"/>
              </a:ext>
            </a:extLst>
          </p:cNvPr>
          <p:cNvSpPr/>
          <p:nvPr/>
        </p:nvSpPr>
        <p:spPr>
          <a:xfrm>
            <a:off x="2704011" y="1794139"/>
            <a:ext cx="5120639" cy="477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0DC403-5FDE-DBEB-1299-7B8BA8A95284}"/>
              </a:ext>
            </a:extLst>
          </p:cNvPr>
          <p:cNvSpPr/>
          <p:nvPr/>
        </p:nvSpPr>
        <p:spPr>
          <a:xfrm>
            <a:off x="7824651" y="1794139"/>
            <a:ext cx="2855823" cy="4770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586484-0A89-E945-E06B-EBF7CF80F82D}"/>
              </a:ext>
            </a:extLst>
          </p:cNvPr>
          <p:cNvSpPr/>
          <p:nvPr/>
        </p:nvSpPr>
        <p:spPr>
          <a:xfrm>
            <a:off x="543697" y="2271192"/>
            <a:ext cx="10136777" cy="5242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974B1E-A72A-FFF8-6A39-7E82A087B3CC}"/>
              </a:ext>
            </a:extLst>
          </p:cNvPr>
          <p:cNvSpPr/>
          <p:nvPr/>
        </p:nvSpPr>
        <p:spPr>
          <a:xfrm>
            <a:off x="543697" y="2782389"/>
            <a:ext cx="1833743" cy="3453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491CD8-7300-290C-6166-70E78CAE2906}"/>
              </a:ext>
            </a:extLst>
          </p:cNvPr>
          <p:cNvSpPr/>
          <p:nvPr/>
        </p:nvSpPr>
        <p:spPr>
          <a:xfrm>
            <a:off x="2377440" y="2795451"/>
            <a:ext cx="3239589" cy="1776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3455D8-76FB-6386-5E35-39A7FFAC3796}"/>
              </a:ext>
            </a:extLst>
          </p:cNvPr>
          <p:cNvSpPr/>
          <p:nvPr/>
        </p:nvSpPr>
        <p:spPr>
          <a:xfrm>
            <a:off x="5603966" y="2795450"/>
            <a:ext cx="2403565" cy="17765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36825-820C-94D0-FBAF-657E5D203F8A}"/>
              </a:ext>
            </a:extLst>
          </p:cNvPr>
          <p:cNvSpPr/>
          <p:nvPr/>
        </p:nvSpPr>
        <p:spPr>
          <a:xfrm>
            <a:off x="8007531" y="2795450"/>
            <a:ext cx="2672943" cy="1776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35E9A0-870D-2372-B5D2-5A638BF06E42}"/>
              </a:ext>
            </a:extLst>
          </p:cNvPr>
          <p:cNvSpPr/>
          <p:nvPr/>
        </p:nvSpPr>
        <p:spPr>
          <a:xfrm>
            <a:off x="2377440" y="4571999"/>
            <a:ext cx="3226526" cy="1663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2BF5A-9B91-144F-A7C1-468DD54F09AA}"/>
              </a:ext>
            </a:extLst>
          </p:cNvPr>
          <p:cNvSpPr/>
          <p:nvPr/>
        </p:nvSpPr>
        <p:spPr>
          <a:xfrm>
            <a:off x="5590903" y="4585061"/>
            <a:ext cx="2403565" cy="1650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E2D11-86B3-82A1-7171-4DB26573F55F}"/>
              </a:ext>
            </a:extLst>
          </p:cNvPr>
          <p:cNvSpPr txBox="1"/>
          <p:nvPr/>
        </p:nvSpPr>
        <p:spPr>
          <a:xfrm>
            <a:off x="713514" y="2335594"/>
            <a:ext cx="1054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KPI’s = AOV, Order profit margin, Total customers, Average rating, Average spent per customer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A5ED17-11D9-67E7-1BA2-030FD3BD8CB1}"/>
              </a:ext>
            </a:extLst>
          </p:cNvPr>
          <p:cNvSpPr txBox="1"/>
          <p:nvPr/>
        </p:nvSpPr>
        <p:spPr>
          <a:xfrm>
            <a:off x="3755441" y="1848363"/>
            <a:ext cx="254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 360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AB8688-78C8-0A5E-B603-A64B779EA216}"/>
              </a:ext>
            </a:extLst>
          </p:cNvPr>
          <p:cNvSpPr txBox="1"/>
          <p:nvPr/>
        </p:nvSpPr>
        <p:spPr>
          <a:xfrm>
            <a:off x="1067188" y="1850043"/>
            <a:ext cx="8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30ABA8-1E1B-3C45-91DE-3F8FCFF10E8D}"/>
              </a:ext>
            </a:extLst>
          </p:cNvPr>
          <p:cNvSpPr/>
          <p:nvPr/>
        </p:nvSpPr>
        <p:spPr>
          <a:xfrm>
            <a:off x="8007531" y="4571999"/>
            <a:ext cx="2672943" cy="1663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146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59F44-4412-A8C3-D2C8-1A38C46DADDE}"/>
              </a:ext>
            </a:extLst>
          </p:cNvPr>
          <p:cNvSpPr txBox="1"/>
          <p:nvPr/>
        </p:nvSpPr>
        <p:spPr>
          <a:xfrm>
            <a:off x="420130" y="630879"/>
            <a:ext cx="6153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Order360 dashboard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6E86B-405E-DCA7-43E2-B83080CE8DC4}"/>
              </a:ext>
            </a:extLst>
          </p:cNvPr>
          <p:cNvSpPr txBox="1"/>
          <p:nvPr/>
        </p:nvSpPr>
        <p:spPr>
          <a:xfrm>
            <a:off x="420129" y="1092544"/>
            <a:ext cx="956412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Objective</a:t>
            </a:r>
          </a:p>
          <a:p>
            <a:r>
              <a:rPr lang="en-IN" sz="1400" dirty="0"/>
              <a:t>Ensure every order is processed smoothly, identify issues early, and enhance customer satisfaction through timely delivery and accuracy</a:t>
            </a:r>
            <a:r>
              <a:rPr lang="en-IN" sz="16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291CD-BB7E-6977-9300-285985744BBC}"/>
              </a:ext>
            </a:extLst>
          </p:cNvPr>
          <p:cNvSpPr/>
          <p:nvPr/>
        </p:nvSpPr>
        <p:spPr>
          <a:xfrm>
            <a:off x="561703" y="2103120"/>
            <a:ext cx="10724606" cy="41240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FCD76-0C53-7FF6-614E-AF0B7382A7CD}"/>
              </a:ext>
            </a:extLst>
          </p:cNvPr>
          <p:cNvSpPr/>
          <p:nvPr/>
        </p:nvSpPr>
        <p:spPr>
          <a:xfrm>
            <a:off x="561703" y="2103120"/>
            <a:ext cx="2272936" cy="561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C81E85-14BE-A765-7D13-09FA0A8BB62C}"/>
              </a:ext>
            </a:extLst>
          </p:cNvPr>
          <p:cNvSpPr/>
          <p:nvPr/>
        </p:nvSpPr>
        <p:spPr>
          <a:xfrm>
            <a:off x="2834639" y="2103120"/>
            <a:ext cx="5930538" cy="561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36413-0385-AD04-0D07-9ECC3865D3B5}"/>
              </a:ext>
            </a:extLst>
          </p:cNvPr>
          <p:cNvSpPr/>
          <p:nvPr/>
        </p:nvSpPr>
        <p:spPr>
          <a:xfrm>
            <a:off x="561703" y="2651760"/>
            <a:ext cx="10724606" cy="5617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06BC4-16E7-0EE2-5E45-46E474AE6987}"/>
              </a:ext>
            </a:extLst>
          </p:cNvPr>
          <p:cNvSpPr/>
          <p:nvPr/>
        </p:nvSpPr>
        <p:spPr>
          <a:xfrm>
            <a:off x="561703" y="3213463"/>
            <a:ext cx="2011680" cy="30136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9DDFD9-1144-86AE-4204-52C60A051916}"/>
              </a:ext>
            </a:extLst>
          </p:cNvPr>
          <p:cNvSpPr/>
          <p:nvPr/>
        </p:nvSpPr>
        <p:spPr>
          <a:xfrm>
            <a:off x="2560320" y="3213463"/>
            <a:ext cx="3722914" cy="1515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D5F4D-F43C-8A5B-C765-FE95B703F43E}"/>
              </a:ext>
            </a:extLst>
          </p:cNvPr>
          <p:cNvSpPr/>
          <p:nvPr/>
        </p:nvSpPr>
        <p:spPr>
          <a:xfrm>
            <a:off x="2573383" y="4728754"/>
            <a:ext cx="3709851" cy="1498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95186F-F963-2B06-B8C8-94E70D5E5020}"/>
              </a:ext>
            </a:extLst>
          </p:cNvPr>
          <p:cNvSpPr/>
          <p:nvPr/>
        </p:nvSpPr>
        <p:spPr>
          <a:xfrm>
            <a:off x="6283234" y="3213463"/>
            <a:ext cx="2586446" cy="1515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B33486-5090-90F6-6CF8-09F9DCB12187}"/>
              </a:ext>
            </a:extLst>
          </p:cNvPr>
          <p:cNvSpPr/>
          <p:nvPr/>
        </p:nvSpPr>
        <p:spPr>
          <a:xfrm>
            <a:off x="6283234" y="4728754"/>
            <a:ext cx="2586446" cy="1498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71625D-65BC-4DA9-2FEA-3C80FFD456BF}"/>
              </a:ext>
            </a:extLst>
          </p:cNvPr>
          <p:cNvSpPr/>
          <p:nvPr/>
        </p:nvSpPr>
        <p:spPr>
          <a:xfrm>
            <a:off x="8869680" y="3213463"/>
            <a:ext cx="2416629" cy="1515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B6AB5A-A9C5-17DD-C4EA-F28DFC703A7E}"/>
              </a:ext>
            </a:extLst>
          </p:cNvPr>
          <p:cNvSpPr/>
          <p:nvPr/>
        </p:nvSpPr>
        <p:spPr>
          <a:xfrm>
            <a:off x="8869680" y="4728754"/>
            <a:ext cx="2416629" cy="1498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A99D8-1603-FA07-A912-4BEB6714ACE9}"/>
              </a:ext>
            </a:extLst>
          </p:cNvPr>
          <p:cNvSpPr txBox="1"/>
          <p:nvPr/>
        </p:nvSpPr>
        <p:spPr>
          <a:xfrm>
            <a:off x="4421777" y="2192774"/>
            <a:ext cx="213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360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20168-C124-2446-A3B2-2C69AE054FD0}"/>
              </a:ext>
            </a:extLst>
          </p:cNvPr>
          <p:cNvSpPr txBox="1"/>
          <p:nvPr/>
        </p:nvSpPr>
        <p:spPr>
          <a:xfrm>
            <a:off x="1123205" y="2192774"/>
            <a:ext cx="8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678C6D-A16B-0273-DECF-A4FA3A0B81DA}"/>
              </a:ext>
            </a:extLst>
          </p:cNvPr>
          <p:cNvSpPr txBox="1"/>
          <p:nvPr/>
        </p:nvSpPr>
        <p:spPr>
          <a:xfrm>
            <a:off x="905691" y="2765753"/>
            <a:ext cx="9608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KPI’s = AOV, order profit margin, Total orders, Average quantity per order, discount vs orders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7C5B1-A5AB-EF1A-F4C6-415BCB32C96C}"/>
              </a:ext>
            </a:extLst>
          </p:cNvPr>
          <p:cNvSpPr txBox="1"/>
          <p:nvPr/>
        </p:nvSpPr>
        <p:spPr>
          <a:xfrm>
            <a:off x="787831" y="3800337"/>
            <a:ext cx="182068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Date range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Region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Channel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Payment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6617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48E4AF-1EC9-EADE-7FFC-D770BDA66FFE}"/>
              </a:ext>
            </a:extLst>
          </p:cNvPr>
          <p:cNvSpPr txBox="1"/>
          <p:nvPr/>
        </p:nvSpPr>
        <p:spPr>
          <a:xfrm>
            <a:off x="420130" y="630879"/>
            <a:ext cx="6153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Store360 dashboard layout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20F6D-6E56-6431-ED78-22F26748B4E6}"/>
              </a:ext>
            </a:extLst>
          </p:cNvPr>
          <p:cNvSpPr txBox="1"/>
          <p:nvPr/>
        </p:nvSpPr>
        <p:spPr>
          <a:xfrm>
            <a:off x="420129" y="1092544"/>
            <a:ext cx="956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Objective</a:t>
            </a:r>
          </a:p>
          <a:p>
            <a:r>
              <a:rPr lang="en-IN" sz="1400" dirty="0"/>
              <a:t>See how each store is performing, what’s selling well, and where improvements are needed</a:t>
            </a:r>
            <a:r>
              <a:rPr lang="en-IN" sz="16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7713F-67FC-D51B-7DE6-E136D74A8D58}"/>
              </a:ext>
            </a:extLst>
          </p:cNvPr>
          <p:cNvSpPr/>
          <p:nvPr/>
        </p:nvSpPr>
        <p:spPr>
          <a:xfrm>
            <a:off x="535577" y="1867989"/>
            <a:ext cx="10724606" cy="43629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32D108-5DBA-AE02-3D37-CF5D2867ADBA}"/>
              </a:ext>
            </a:extLst>
          </p:cNvPr>
          <p:cNvSpPr/>
          <p:nvPr/>
        </p:nvSpPr>
        <p:spPr>
          <a:xfrm>
            <a:off x="548640" y="1867989"/>
            <a:ext cx="2011680" cy="496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D930B-2805-3AB9-26B6-D19DD56B73B1}"/>
              </a:ext>
            </a:extLst>
          </p:cNvPr>
          <p:cNvSpPr/>
          <p:nvPr/>
        </p:nvSpPr>
        <p:spPr>
          <a:xfrm>
            <a:off x="2560320" y="1867989"/>
            <a:ext cx="5930537" cy="496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51CEB-1AB4-1587-E20F-8D847C5F850E}"/>
              </a:ext>
            </a:extLst>
          </p:cNvPr>
          <p:cNvSpPr/>
          <p:nvPr/>
        </p:nvSpPr>
        <p:spPr>
          <a:xfrm>
            <a:off x="8347166" y="1867989"/>
            <a:ext cx="2913017" cy="4963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526CD-1D57-4ADE-3F6A-4A44D16699D8}"/>
              </a:ext>
            </a:extLst>
          </p:cNvPr>
          <p:cNvSpPr/>
          <p:nvPr/>
        </p:nvSpPr>
        <p:spPr>
          <a:xfrm>
            <a:off x="548640" y="2364377"/>
            <a:ext cx="10711543" cy="535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7B1ADB-18BB-7B80-48EF-3061F49B12A2}"/>
              </a:ext>
            </a:extLst>
          </p:cNvPr>
          <p:cNvSpPr/>
          <p:nvPr/>
        </p:nvSpPr>
        <p:spPr>
          <a:xfrm>
            <a:off x="548640" y="2899953"/>
            <a:ext cx="1854926" cy="33271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60F27-0A54-EDB9-04AD-C07F3BD08A7E}"/>
              </a:ext>
            </a:extLst>
          </p:cNvPr>
          <p:cNvSpPr/>
          <p:nvPr/>
        </p:nvSpPr>
        <p:spPr>
          <a:xfrm>
            <a:off x="2403566" y="2899954"/>
            <a:ext cx="3692434" cy="169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EBAC0D-69D6-B468-5E00-8700CD22AA27}"/>
              </a:ext>
            </a:extLst>
          </p:cNvPr>
          <p:cNvSpPr/>
          <p:nvPr/>
        </p:nvSpPr>
        <p:spPr>
          <a:xfrm>
            <a:off x="6096000" y="2899954"/>
            <a:ext cx="2486297" cy="169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7A23A9-7A0A-1848-CA58-2AA81BA19CEB}"/>
              </a:ext>
            </a:extLst>
          </p:cNvPr>
          <p:cNvSpPr/>
          <p:nvPr/>
        </p:nvSpPr>
        <p:spPr>
          <a:xfrm>
            <a:off x="8582297" y="2899954"/>
            <a:ext cx="2677886" cy="169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860369-E0DC-115C-8282-0AE9ECAFD005}"/>
              </a:ext>
            </a:extLst>
          </p:cNvPr>
          <p:cNvSpPr/>
          <p:nvPr/>
        </p:nvSpPr>
        <p:spPr>
          <a:xfrm>
            <a:off x="2403566" y="4598126"/>
            <a:ext cx="3692434" cy="1628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2F9D8-98D3-2D3E-C253-1941CC8779AF}"/>
              </a:ext>
            </a:extLst>
          </p:cNvPr>
          <p:cNvSpPr/>
          <p:nvPr/>
        </p:nvSpPr>
        <p:spPr>
          <a:xfrm>
            <a:off x="6096000" y="4598126"/>
            <a:ext cx="2486297" cy="1628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FB041-D572-63AC-C9FA-99E6C0AC8D39}"/>
              </a:ext>
            </a:extLst>
          </p:cNvPr>
          <p:cNvSpPr/>
          <p:nvPr/>
        </p:nvSpPr>
        <p:spPr>
          <a:xfrm>
            <a:off x="8582297" y="4598126"/>
            <a:ext cx="2677886" cy="1628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FCA5A-6348-3612-647F-E0F4130A6C86}"/>
              </a:ext>
            </a:extLst>
          </p:cNvPr>
          <p:cNvSpPr txBox="1"/>
          <p:nvPr/>
        </p:nvSpPr>
        <p:spPr>
          <a:xfrm>
            <a:off x="1031765" y="1931517"/>
            <a:ext cx="8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1DCA46-0301-4F82-41AB-C9E35EFDCDBC}"/>
              </a:ext>
            </a:extLst>
          </p:cNvPr>
          <p:cNvSpPr txBox="1"/>
          <p:nvPr/>
        </p:nvSpPr>
        <p:spPr>
          <a:xfrm>
            <a:off x="4177936" y="1931517"/>
            <a:ext cx="209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360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F6B1E-4AFE-5FDB-7645-C49793BB2D04}"/>
              </a:ext>
            </a:extLst>
          </p:cNvPr>
          <p:cNvSpPr txBox="1"/>
          <p:nvPr/>
        </p:nvSpPr>
        <p:spPr>
          <a:xfrm>
            <a:off x="548640" y="2435176"/>
            <a:ext cx="10578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KPI’s = AOV, Store gross profit, Best performing stores , Average profit per store, Best selling 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39E339-F902-83FE-AA59-363EC152A8C4}"/>
              </a:ext>
            </a:extLst>
          </p:cNvPr>
          <p:cNvSpPr txBox="1"/>
          <p:nvPr/>
        </p:nvSpPr>
        <p:spPr>
          <a:xfrm>
            <a:off x="713514" y="3547305"/>
            <a:ext cx="182068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Slicers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Date range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Region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Channel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Payment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Customer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Category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5931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34B991-74DC-3DC8-6B75-737E454A2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97247"/>
              </p:ext>
            </p:extLst>
          </p:nvPr>
        </p:nvGraphicFramePr>
        <p:xfrm>
          <a:off x="312918" y="928253"/>
          <a:ext cx="11566164" cy="5046763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855388">
                  <a:extLst>
                    <a:ext uri="{9D8B030D-6E8A-4147-A177-3AD203B41FA5}">
                      <a16:colId xmlns:a16="http://schemas.microsoft.com/office/drawing/2014/main" val="3071362686"/>
                    </a:ext>
                  </a:extLst>
                </a:gridCol>
                <a:gridCol w="3855388">
                  <a:extLst>
                    <a:ext uri="{9D8B030D-6E8A-4147-A177-3AD203B41FA5}">
                      <a16:colId xmlns:a16="http://schemas.microsoft.com/office/drawing/2014/main" val="672373235"/>
                    </a:ext>
                  </a:extLst>
                </a:gridCol>
                <a:gridCol w="3855388">
                  <a:extLst>
                    <a:ext uri="{9D8B030D-6E8A-4147-A177-3AD203B41FA5}">
                      <a16:colId xmlns:a16="http://schemas.microsoft.com/office/drawing/2014/main" val="1154261007"/>
                    </a:ext>
                  </a:extLst>
                </a:gridCol>
              </a:tblGrid>
              <a:tr h="25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</a:rPr>
                        <a:t>Phase</a:t>
                      </a:r>
                      <a:endParaRPr lang="en-IN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</a:rPr>
                        <a:t>Tool Used</a:t>
                      </a:r>
                      <a:endParaRPr lang="en-IN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ysClr val="windowText" lastClr="000000"/>
                          </a:solidFill>
                        </a:rPr>
                        <a:t>Purpose / Activity</a:t>
                      </a:r>
                      <a:endParaRPr lang="en-IN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7398567"/>
                  </a:ext>
                </a:extLst>
              </a:tr>
              <a:tr h="1026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Data Viewing &amp; Understanding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Microsoft Excel</a:t>
                      </a:r>
                      <a:endParaRPr lang="en-IN" sz="140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Initial data exploration and familiarization- Viewing datasets, verifying column structures, identifying nulls and outliers</a:t>
                      </a: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1325948"/>
                  </a:ext>
                </a:extLst>
              </a:tr>
              <a:tr h="1412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 Cleaning &amp; Transformation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SQL (Microsoft SQL Server )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Removing duplicates and invalid entries- Validating data consistency (foreign keys, date ranges, mismatched records)- Creating cleaned and enriched tables (Customer_360, Order_360, Store_360)</a:t>
                      </a: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6214906"/>
                  </a:ext>
                </a:extLst>
              </a:tr>
              <a:tr h="1026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Visualization &amp; Dashboard Planning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Power BI (Planned)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- Dashboard creation for Customer360, Order360, Store360, products info, Customer satisfaction.  views- KPI visualization, interactivity, and data storytelling</a:t>
                      </a: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948532"/>
                  </a:ext>
                </a:extLst>
              </a:tr>
              <a:tr h="833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Presentation &amp; Documentation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Microsoft PowerPoint</a:t>
                      </a:r>
                      <a:endParaRPr lang="en-IN" sz="140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Structuring findings, methods, and dashboard layout designs- Presenting final deliverables and insights clearly</a:t>
                      </a: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7277700"/>
                  </a:ext>
                </a:extLst>
              </a:tr>
              <a:tr h="447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Optional Support Tool</a:t>
                      </a:r>
                      <a:endParaRPr lang="en-IN" sz="1400" dirty="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Excel + SQL Integration</a:t>
                      </a:r>
                      <a:endParaRPr lang="en-IN" sz="1400"/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- Cross-validation of record counts and sample data checks</a:t>
                      </a:r>
                    </a:p>
                  </a:txBody>
                  <a:tcPr marL="53931" marR="53931" marT="26966" marB="269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52980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ABB511-ACEA-302F-C737-422D5AF81475}"/>
              </a:ext>
            </a:extLst>
          </p:cNvPr>
          <p:cNvSpPr txBox="1"/>
          <p:nvPr/>
        </p:nvSpPr>
        <p:spPr>
          <a:xfrm>
            <a:off x="2340453" y="326660"/>
            <a:ext cx="7511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u="sng" dirty="0"/>
              <a:t>Tools Overview</a:t>
            </a:r>
          </a:p>
        </p:txBody>
      </p:sp>
    </p:spTree>
    <p:extLst>
      <p:ext uri="{BB962C8B-B14F-4D97-AF65-F5344CB8AC3E}">
        <p14:creationId xmlns:p14="http://schemas.microsoft.com/office/powerpoint/2010/main" val="548973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29146</TotalTime>
  <Words>4938</Words>
  <Application>Microsoft Office PowerPoint</Application>
  <PresentationFormat>Widescreen</PresentationFormat>
  <Paragraphs>725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Aptos</vt:lpstr>
      <vt:lpstr>Aptos Display</vt:lpstr>
      <vt:lpstr>Arial</vt:lpstr>
      <vt:lpstr>Baskerville</vt:lpstr>
      <vt:lpstr>Calibri</vt:lpstr>
      <vt:lpstr>Open Sans</vt:lpstr>
      <vt:lpstr>PT Sans Narrow</vt:lpstr>
      <vt:lpstr>Raleway</vt:lpstr>
      <vt:lpstr>Tropic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athuldas</cp:lastModifiedBy>
  <cp:revision>112</cp:revision>
  <dcterms:created xsi:type="dcterms:W3CDTF">2025-04-04T02:52:34Z</dcterms:created>
  <dcterms:modified xsi:type="dcterms:W3CDTF">2025-11-30T18:18:03Z</dcterms:modified>
</cp:coreProperties>
</file>